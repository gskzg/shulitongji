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5753100"/>
            <a:ext cx="12192000" cy="1104900"/>
          </a:xfrm>
          <a:prstGeom prst="rect">
            <a:avLst/>
          </a:prstGeom>
          <a:solidFill>
            <a:srgbClr val="78D5EF"/>
          </a:solidFill>
          <a:ln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5753100"/>
            <a:ext cx="7905750" cy="110490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5753100"/>
            <a:ext cx="1524000" cy="1104900"/>
          </a:xfrm>
          <a:prstGeom prst="rect">
            <a:avLst/>
          </a:prstGeom>
          <a:solidFill>
            <a:srgbClr val="78D5EF"/>
          </a:solidFill>
          <a:ln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1390650"/>
            <a:ext cx="8572500" cy="5524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3300" b="1">
                <a:solidFill>
                  <a:srgbClr val="E6461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TLE/SGP4 轨道预报误差统计分析</a:t>
            </a:r>
            <a:endParaRPr sz="3300" b="1">
              <a:solidFill>
                <a:srgbClr val="E6461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23900" y="2076450"/>
            <a:ext cx="857250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65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公开 TLE 数据下的1/3/7天预报误差、增长规律与轨道类型差异</a:t>
            </a:r>
            <a:endParaRPr sz="165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2714625"/>
            <a:ext cx="781050" cy="47625"/>
          </a:xfrm>
          <a:prstGeom prst="rect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3028950"/>
            <a:ext cx="7429500" cy="304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350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数据：Space-Track gp_history，2025-01-01 至 2025-03-31</a:t>
            </a:r>
            <a:endParaRPr sz="1350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705850" y="6057900"/>
            <a:ext cx="2476500" cy="2476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r">
              <a:defRPr sz="120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报告人：</a:t>
            </a:r>
            <a:endParaRPr sz="120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23900" y="3857625"/>
            <a:ext cx="2571750" cy="876300"/>
          </a:xfrm>
          <a:prstGeom prst="roundRect">
            <a:avLst>
              <a:gd name="adj" fmla="val 8696"/>
            </a:avLst>
          </a:prstGeom>
          <a:solidFill>
            <a:srgbClr val="F4F8FB"/>
          </a:solidFill>
          <a:ln w="9525">
            <a:solidFill>
              <a:srgbClr val="D8E6EF"/>
            </a:solidFill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23900" y="3857625"/>
            <a:ext cx="57150" cy="87630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95350" y="3971925"/>
            <a:ext cx="230505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875" b="1">
                <a:solidFill>
                  <a:srgbClr val="08A8D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75</a:t>
            </a:r>
            <a:endParaRPr sz="1875" b="1">
              <a:solidFill>
                <a:srgbClr val="08A8D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95350" y="4333875"/>
            <a:ext cx="23050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050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NORAD目标：LEO/MEO/GEO各25个</a:t>
            </a:r>
            <a:endParaRPr sz="1050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3562350" y="3857625"/>
            <a:ext cx="2381250" cy="876300"/>
          </a:xfrm>
          <a:prstGeom prst="roundRect">
            <a:avLst>
              <a:gd name="adj" fmla="val 8696"/>
            </a:avLst>
          </a:prstGeom>
          <a:solidFill>
            <a:srgbClr val="F4F8FB"/>
          </a:solidFill>
          <a:ln w="9525">
            <a:solidFill>
              <a:srgbClr val="D8E6EF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562350" y="3857625"/>
            <a:ext cx="57150" cy="87630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733800" y="3971925"/>
            <a:ext cx="211455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875" b="1">
                <a:solidFill>
                  <a:srgbClr val="08A8D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16,214</a:t>
            </a:r>
            <a:endParaRPr sz="1875" b="1">
              <a:solidFill>
                <a:srgbClr val="08A8D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733800" y="4333875"/>
            <a:ext cx="21145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050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历史TLE记录</a:t>
            </a:r>
            <a:endParaRPr sz="1050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6210300" y="3857625"/>
            <a:ext cx="2476500" cy="876300"/>
          </a:xfrm>
          <a:prstGeom prst="roundRect">
            <a:avLst>
              <a:gd name="adj" fmla="val 8696"/>
            </a:avLst>
          </a:prstGeom>
          <a:solidFill>
            <a:srgbClr val="F4F8FB"/>
          </a:solidFill>
          <a:ln w="9525">
            <a:solidFill>
              <a:srgbClr val="D8E6EF"/>
            </a:solidFill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210300" y="3857625"/>
            <a:ext cx="57150" cy="876300"/>
          </a:xfrm>
          <a:prstGeom prst="rect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381750" y="3971925"/>
            <a:ext cx="220980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875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43,125</a:t>
            </a:r>
            <a:endParaRPr sz="1875" b="1">
              <a:solidFill>
                <a:srgbClr val="F05A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381750" y="4333875"/>
            <a:ext cx="22098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050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预报误差样本</a:t>
            </a:r>
            <a:endParaRPr sz="1050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753100" y="6486525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97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 &amp; A</a:t>
            </a:r>
            <a:endParaRPr sz="97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144000" y="0"/>
            <a:ext cx="3048000" cy="552450"/>
          </a:xfrm>
          <a:prstGeom prst="rect">
            <a:avLst/>
          </a:prstGeom>
          <a:solidFill>
            <a:srgbClr val="78D5EF"/>
          </a:solidFill>
          <a:ln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381000" y="123825"/>
            <a:ext cx="47625" cy="304800"/>
          </a:xfrm>
          <a:prstGeom prst="rect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14300"/>
            <a:ext cx="809625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研究框架：公开编目数据的误差统计模型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6362700"/>
            <a:ext cx="12192000" cy="495300"/>
          </a:xfrm>
          <a:prstGeom prst="rect">
            <a:avLst/>
          </a:prstGeom>
          <a:solidFill>
            <a:srgbClr val="78D5EF"/>
          </a:solidFill>
          <a:ln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0" y="6362700"/>
            <a:ext cx="8858250" cy="49530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810250" y="6486525"/>
            <a:ext cx="5715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81000" y="6048375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825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TLE/SGP4 轨道预报误差统计分析</a:t>
            </a:r>
            <a:endParaRPr sz="825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914400"/>
            <a:ext cx="1009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575" b="1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以目标 s、TLE 历元 i、预报时长 h 为索引，把轨道传播问题转化为误差样本的统计推断问题。</a:t>
            </a:r>
            <a:endParaRPr sz="1575" b="1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81050" y="1409700"/>
            <a:ext cx="9906000" cy="3638550"/>
          </a:xfrm>
          <a:prstGeom prst="roundRect">
            <a:avLst>
              <a:gd name="adj" fmla="val 2094"/>
            </a:avLst>
          </a:prstGeom>
          <a:solidFill>
            <a:srgbClr val="FAFDFF"/>
          </a:solidFill>
          <a:ln w="9525">
            <a:solidFill>
              <a:srgbClr val="D8E6EF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585913" y="1809750"/>
            <a:ext cx="28575" cy="2628900"/>
          </a:xfrm>
          <a:prstGeom prst="rect">
            <a:avLst/>
          </a:prstGeom>
          <a:solidFill>
            <a:srgbClr val="1D5E8C"/>
          </a:solidFill>
          <a:ln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962150" y="2271713"/>
            <a:ext cx="8191500" cy="9525"/>
          </a:xfrm>
          <a:prstGeom prst="rect">
            <a:avLst/>
          </a:prstGeom>
          <a:solidFill>
            <a:srgbClr val="E6EEF4"/>
          </a:solidFill>
          <a:ln>
            <a:noFill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533525" y="1876425"/>
            <a:ext cx="133350" cy="133350"/>
          </a:xfrm>
          <a:prstGeom prst="ellipse">
            <a:avLst/>
          </a:prstGeom>
          <a:solidFill>
            <a:srgbClr val="1D5E8C"/>
          </a:solidFill>
          <a:ln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76300" y="1790700"/>
            <a:ext cx="6096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r">
              <a:defRPr sz="1275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数据层</a:t>
            </a:r>
            <a:endParaRPr sz="1275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076450" y="1752600"/>
            <a:ext cx="31432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425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TLE_{s,i}</a:t>
            </a:r>
            <a:endParaRPr sz="1425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429250" y="1752600"/>
            <a:ext cx="295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16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平均轨道根数 + 历元 epoch + B* 阻力项</a:t>
            </a:r>
            <a:endParaRPr sz="116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591550" y="173355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>
              <a:lnSpc>
                <a:spcPct val="105000"/>
              </a:lnSpc>
              <a:buNone/>
            </a:pPr>
            <a:r>
              <a:rPr sz="1090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同一目标 s 的历史 TLE 序列</a:t>
            </a:r>
            <a:endParaRPr sz="1090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962150" y="2995613"/>
            <a:ext cx="8191500" cy="9525"/>
          </a:xfrm>
          <a:prstGeom prst="rect">
            <a:avLst/>
          </a:prstGeom>
          <a:solidFill>
            <a:srgbClr val="E6EEF4"/>
          </a:solidFill>
          <a:ln>
            <a:noFill/>
          </a:ln>
        </p:spPr>
      </p:sp>
      <p:sp>
        <p:nvSpPr>
          <p:cNvPr id="21" name="椭圆 20"/>
          <p:cNvSpPr>
            <a:spLocks noGrp="1"/>
          </p:cNvSpPr>
          <p:nvPr/>
        </p:nvSpPr>
        <p:spPr>
          <a:xfrm>
            <a:off x="1533525" y="2600325"/>
            <a:ext cx="133350" cy="133350"/>
          </a:xfrm>
          <a:prstGeom prst="ellipse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76300" y="2514600"/>
            <a:ext cx="6096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r">
              <a:defRPr sz="1275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传播层</a:t>
            </a:r>
            <a:endParaRPr sz="1275" b="1">
              <a:solidFill>
                <a:srgbClr val="F05A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076450" y="2476500"/>
            <a:ext cx="31432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425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r_pred(t*) = SGP4(TLE_{s,i}, h)</a:t>
            </a:r>
            <a:endParaRPr sz="1425" b="1">
              <a:solidFill>
                <a:srgbClr val="F05A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429250" y="2476500"/>
            <a:ext cx="295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16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t* = epoch_i + h，h ∈ {1,3,7} 天</a:t>
            </a:r>
            <a:endParaRPr sz="116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591550" y="245745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>
              <a:lnSpc>
                <a:spcPct val="105000"/>
              </a:lnSpc>
              <a:buNone/>
            </a:pPr>
            <a:r>
              <a:rPr sz="1090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旧 TLE 给出目标时刻的位置预报</a:t>
            </a:r>
            <a:endParaRPr sz="1090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962150" y="3719513"/>
            <a:ext cx="8191500" cy="9525"/>
          </a:xfrm>
          <a:prstGeom prst="rect">
            <a:avLst/>
          </a:prstGeom>
          <a:solidFill>
            <a:srgbClr val="E6EEF4"/>
          </a:solidFill>
          <a:ln>
            <a:noFill/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1533525" y="3324225"/>
            <a:ext cx="133350" cy="133350"/>
          </a:xfrm>
          <a:prstGeom prst="ellipse">
            <a:avLst/>
          </a:prstGeom>
          <a:solidFill>
            <a:srgbClr val="1D5E8C"/>
          </a:solidFill>
          <a:ln>
            <a:noFill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76300" y="3238500"/>
            <a:ext cx="6096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r">
              <a:defRPr sz="1275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误差层</a:t>
            </a:r>
            <a:endParaRPr sz="1275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076450" y="3200400"/>
            <a:ext cx="31432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425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e_{s,i,h} = r_pred(t*) - r_ref(t*)</a:t>
            </a:r>
            <a:endParaRPr sz="1425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5429250" y="3200400"/>
            <a:ext cx="295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16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E_{s,i,h}=||e_{s,i,h}||₂；e_RIC = C e</a:t>
            </a:r>
            <a:endParaRPr sz="116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591550" y="318135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>
              <a:lnSpc>
                <a:spcPct val="105000"/>
              </a:lnSpc>
              <a:buNone/>
            </a:pPr>
            <a:r>
              <a:rPr sz="1090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 TLE 在 t* 附近提供公开体系内参考</a:t>
            </a:r>
            <a:endParaRPr sz="1090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962150" y="4443413"/>
            <a:ext cx="81915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" name="椭圆 32"/>
          <p:cNvSpPr>
            <a:spLocks noGrp="1"/>
          </p:cNvSpPr>
          <p:nvPr/>
        </p:nvSpPr>
        <p:spPr>
          <a:xfrm>
            <a:off x="1533525" y="4048125"/>
            <a:ext cx="133350" cy="133350"/>
          </a:xfrm>
          <a:prstGeom prst="ellipse">
            <a:avLst/>
          </a:prstGeom>
          <a:solidFill>
            <a:srgbClr val="1D5E8C"/>
          </a:solidFill>
          <a:ln>
            <a:noFill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876300" y="3962400"/>
            <a:ext cx="6096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r">
              <a:defRPr sz="1275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统计层</a:t>
            </a:r>
            <a:endParaRPr sz="1275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2076450" y="3924300"/>
            <a:ext cx="31432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425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D_{g,h} = {E_{s,i,h}: orbit(s)=g}</a:t>
            </a:r>
            <a:endParaRPr sz="1425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429250" y="3924300"/>
            <a:ext cx="2952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16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θ=f(D)：中位数、RMSE、分位数、增长指数</a:t>
            </a:r>
            <a:endParaRPr sz="116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591550" y="3905250"/>
            <a:ext cx="171450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>
              <a:lnSpc>
                <a:spcPct val="105000"/>
              </a:lnSpc>
              <a:buNone/>
            </a:pPr>
            <a:r>
              <a:rPr sz="1090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按轨道类型 g 和时长 h 汇总推断</a:t>
            </a:r>
            <a:endParaRPr sz="1090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1562100" y="5276850"/>
            <a:ext cx="8096250" cy="457200"/>
          </a:xfrm>
          <a:prstGeom prst="roundRect">
            <a:avLst>
              <a:gd name="adj" fmla="val 16667"/>
            </a:avLst>
          </a:prstGeom>
          <a:solidFill>
            <a:srgbClr val="FFF8F4"/>
          </a:solidFill>
          <a:ln w="9525">
            <a:solidFill>
              <a:srgbClr val="F3CAB8"/>
            </a:solidFill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847850" y="5391150"/>
            <a:ext cx="1066800" cy="209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350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核心观点</a:t>
            </a:r>
            <a:endParaRPr sz="1350" b="1">
              <a:solidFill>
                <a:srgbClr val="F05A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3086100" y="5372100"/>
            <a:ext cx="58102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350" b="1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TLE 预报误差不是单一平均数，而是随 h、g 和长尾样本共同变化的分布。</a:t>
            </a:r>
            <a:endParaRPr sz="1350" b="1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144000" y="0"/>
            <a:ext cx="3048000" cy="552450"/>
          </a:xfrm>
          <a:prstGeom prst="rect">
            <a:avLst/>
          </a:prstGeom>
          <a:solidFill>
            <a:srgbClr val="78D5EF"/>
          </a:solidFill>
          <a:ln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381000" y="123825"/>
            <a:ext cx="47625" cy="304800"/>
          </a:xfrm>
          <a:prstGeom prst="rect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14300"/>
            <a:ext cx="809625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原理一：TLE 平均根数经 SGP4 传播为位置序列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6362700"/>
            <a:ext cx="12192000" cy="495300"/>
          </a:xfrm>
          <a:prstGeom prst="rect">
            <a:avLst/>
          </a:prstGeom>
          <a:solidFill>
            <a:srgbClr val="78D5EF"/>
          </a:solidFill>
          <a:ln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0" y="6362700"/>
            <a:ext cx="8858250" cy="49530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810250" y="6486525"/>
            <a:ext cx="5715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81000" y="6048375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825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TLE/SGP4 轨道预报误差统计分析</a:t>
            </a:r>
            <a:endParaRPr sz="825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91440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575" b="1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TLE 给出历元处的平均轨道根数；SGP4 在指定时长 h 上输出 TEME 坐标系下的位置和速度。</a:t>
            </a:r>
            <a:endParaRPr sz="1575" b="1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23900" y="1409700"/>
            <a:ext cx="9791700" cy="914400"/>
          </a:xfrm>
          <a:prstGeom prst="roundRect">
            <a:avLst>
              <a:gd name="adj" fmla="val 8333"/>
            </a:avLst>
          </a:prstGeom>
          <a:solidFill>
            <a:srgbClr val="FAFDFF"/>
          </a:solidFill>
          <a:ln w="9525">
            <a:solidFill>
              <a:srgbClr val="D8E6EF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66800" y="1619250"/>
            <a:ext cx="4095750" cy="285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650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TLE_i = {epoch_i, i, Ω, e, ω, M, n, B*}</a:t>
            </a:r>
            <a:endParaRPr sz="1650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5619750" y="1619250"/>
            <a:ext cx="4229100" cy="285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650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r_i(t_i+h), v_i(t_i+h) = SGP4(TLE_i, h)</a:t>
            </a:r>
            <a:endParaRPr sz="1650" b="1">
              <a:solidFill>
                <a:srgbClr val="F05A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066800" y="2000250"/>
            <a:ext cx="8001000" cy="209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165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i, Ω, e, ω, M, n 表示轨道根数；B* 表示阻力相关项；h 为预报时长。</a:t>
            </a:r>
            <a:endParaRPr sz="1165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028700" y="2819400"/>
            <a:ext cx="89535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8E6EF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257300" y="3028950"/>
            <a:ext cx="11049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275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传播时长 h</a:t>
            </a:r>
            <a:endParaRPr sz="1275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000250" y="3629025"/>
            <a:ext cx="7124700" cy="19050"/>
          </a:xfrm>
          <a:prstGeom prst="rect">
            <a:avLst/>
          </a:prstGeom>
          <a:solidFill>
            <a:srgbClr val="1D5E8C"/>
          </a:solidFill>
          <a:ln>
            <a:noFill/>
          </a:ln>
        </p:spPr>
      </p:sp>
      <p:sp>
        <p:nvSpPr>
          <p:cNvPr id="19" name="等腰三角形 18"/>
          <p:cNvSpPr>
            <a:spLocks noGrp="1"/>
          </p:cNvSpPr>
          <p:nvPr/>
        </p:nvSpPr>
        <p:spPr>
          <a:xfrm>
            <a:off x="9086850" y="3571875"/>
            <a:ext cx="133350" cy="133350"/>
          </a:xfrm>
          <a:prstGeom prst="triangle">
            <a:avLst/>
          </a:prstGeom>
          <a:solidFill>
            <a:srgbClr val="1D5E8C"/>
          </a:solidFill>
          <a:ln>
            <a:noFill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1752600" y="3829050"/>
            <a:ext cx="87630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lnSpc>
                <a:spcPct val="102000"/>
              </a:lnSpc>
              <a:buNone/>
              <a:defRPr sz="101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TLE历元</a:t>
            </a:r>
            <a:endParaRPr sz="101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lnSpc>
                <a:spcPct val="102000"/>
              </a:lnSpc>
              <a:buNone/>
              <a:defRPr sz="101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epoch_i</a:t>
            </a:r>
            <a:endParaRPr sz="101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619500" y="3867150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109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+1d</a:t>
            </a:r>
            <a:endParaRPr sz="109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448300" y="3867150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109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+3d</a:t>
            </a:r>
            <a:endParaRPr sz="109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458200" y="3943350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109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+7d</a:t>
            </a:r>
            <a:endParaRPr sz="109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2019300" y="3581400"/>
            <a:ext cx="114300" cy="114300"/>
          </a:xfrm>
          <a:prstGeom prst="ellipse">
            <a:avLst/>
          </a:prstGeom>
          <a:solidFill>
            <a:srgbClr val="1D5E8C"/>
          </a:solidFill>
          <a:ln>
            <a:noFill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071688" y="3638550"/>
            <a:ext cx="9525" cy="209550"/>
          </a:xfrm>
          <a:prstGeom prst="rect">
            <a:avLst/>
          </a:prstGeom>
          <a:solidFill>
            <a:srgbClr val="D8E6EF"/>
          </a:solidFill>
          <a:ln>
            <a:noFill/>
          </a:ln>
        </p:spPr>
      </p:sp>
      <p:sp>
        <p:nvSpPr>
          <p:cNvPr id="26" name="椭圆 25"/>
          <p:cNvSpPr>
            <a:spLocks noGrp="1"/>
          </p:cNvSpPr>
          <p:nvPr/>
        </p:nvSpPr>
        <p:spPr>
          <a:xfrm>
            <a:off x="3790950" y="3457575"/>
            <a:ext cx="323850" cy="323850"/>
          </a:xfrm>
          <a:prstGeom prst="ellipse">
            <a:avLst/>
          </a:prstGeom>
          <a:solidFill>
            <a:srgbClr val="F7FBFE"/>
          </a:solidFill>
          <a:ln w="9525">
            <a:solidFill>
              <a:srgbClr val="D8E6EF"/>
            </a:solidFill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3895725" y="3533775"/>
            <a:ext cx="95250" cy="95250"/>
          </a:xfrm>
          <a:prstGeom prst="ellipse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371850" y="312420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1015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r_i(t_i+1)</a:t>
            </a:r>
            <a:endParaRPr sz="1015" b="1">
              <a:solidFill>
                <a:srgbClr val="F05A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3938588" y="3638550"/>
            <a:ext cx="9525" cy="209550"/>
          </a:xfrm>
          <a:prstGeom prst="rect">
            <a:avLst/>
          </a:prstGeom>
          <a:solidFill>
            <a:srgbClr val="D8E6EF"/>
          </a:solidFill>
          <a:ln>
            <a:noFill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5514975" y="3314700"/>
            <a:ext cx="514350" cy="514350"/>
          </a:xfrm>
          <a:prstGeom prst="ellipse">
            <a:avLst/>
          </a:prstGeom>
          <a:solidFill>
            <a:srgbClr val="F7FBFE"/>
          </a:solidFill>
          <a:ln w="9525">
            <a:solidFill>
              <a:srgbClr val="D8E6EF"/>
            </a:solidFill>
          </a:ln>
        </p:spPr>
      </p:sp>
      <p:sp>
        <p:nvSpPr>
          <p:cNvPr id="31" name="椭圆 30"/>
          <p:cNvSpPr>
            <a:spLocks noGrp="1"/>
          </p:cNvSpPr>
          <p:nvPr/>
        </p:nvSpPr>
        <p:spPr>
          <a:xfrm>
            <a:off x="5724525" y="3543300"/>
            <a:ext cx="95250" cy="95250"/>
          </a:xfrm>
          <a:prstGeom prst="ellipse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5200650" y="302895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1015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r_i(t_i+3)</a:t>
            </a:r>
            <a:endParaRPr sz="1015" b="1">
              <a:solidFill>
                <a:srgbClr val="F05A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767388" y="3638550"/>
            <a:ext cx="9525" cy="209550"/>
          </a:xfrm>
          <a:prstGeom prst="rect">
            <a:avLst/>
          </a:prstGeom>
          <a:solidFill>
            <a:srgbClr val="D8E6EF"/>
          </a:solidFill>
          <a:ln>
            <a:noFill/>
          </a:ln>
        </p:spPr>
      </p:sp>
      <p:sp>
        <p:nvSpPr>
          <p:cNvPr id="34" name="椭圆 33"/>
          <p:cNvSpPr>
            <a:spLocks noGrp="1"/>
          </p:cNvSpPr>
          <p:nvPr/>
        </p:nvSpPr>
        <p:spPr>
          <a:xfrm>
            <a:off x="8439150" y="3228975"/>
            <a:ext cx="781050" cy="743585"/>
          </a:xfrm>
          <a:prstGeom prst="ellipse">
            <a:avLst/>
          </a:prstGeom>
          <a:solidFill>
            <a:srgbClr val="FFF4ED"/>
          </a:solidFill>
          <a:ln w="9525">
            <a:solidFill>
              <a:srgbClr val="F3CAB8"/>
            </a:solidFill>
          </a:ln>
        </p:spPr>
      </p:sp>
      <p:sp>
        <p:nvSpPr>
          <p:cNvPr id="35" name="椭圆 34"/>
          <p:cNvSpPr>
            <a:spLocks noGrp="1"/>
          </p:cNvSpPr>
          <p:nvPr/>
        </p:nvSpPr>
        <p:spPr>
          <a:xfrm>
            <a:off x="8782050" y="3590925"/>
            <a:ext cx="95250" cy="95250"/>
          </a:xfrm>
          <a:prstGeom prst="ellipse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220075" y="302895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1015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r_i(t_i+7)</a:t>
            </a:r>
            <a:endParaRPr sz="1015" b="1">
              <a:solidFill>
                <a:srgbClr val="F05A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758238" y="3638550"/>
            <a:ext cx="9525" cy="209550"/>
          </a:xfrm>
          <a:prstGeom prst="rect">
            <a:avLst/>
          </a:prstGeom>
          <a:solidFill>
            <a:srgbClr val="D8E6EF"/>
          </a:solidFill>
          <a:ln>
            <a:noFill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191250" y="4267200"/>
            <a:ext cx="3333750" cy="1714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r">
              <a:defRPr sz="975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椭圆示意传播不确定性随 h 扩大，并非真实轨道尺度。</a:t>
            </a:r>
            <a:endParaRPr sz="975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1123950" y="4838700"/>
            <a:ext cx="4095750" cy="742950"/>
          </a:xfrm>
          <a:prstGeom prst="roundRect">
            <a:avLst>
              <a:gd name="adj" fmla="val 10256"/>
            </a:avLst>
          </a:prstGeom>
          <a:solidFill>
            <a:srgbClr val="F7FBFE"/>
          </a:solidFill>
          <a:ln w="9525">
            <a:solidFill>
              <a:srgbClr val="D8E6EF"/>
            </a:solidFill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>
            <a:off x="1390650" y="5010150"/>
            <a:ext cx="1381125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350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误差积累机制</a:t>
            </a:r>
            <a:endParaRPr sz="1350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2857500" y="4953000"/>
            <a:ext cx="1952625" cy="381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>
              <a:lnSpc>
                <a:spcPct val="106000"/>
              </a:lnSpc>
              <a:buNone/>
            </a:pPr>
            <a:r>
              <a:rPr sz="109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初始根数误差、SGP4 模型近似、阻力与空间天气、机动或编目更新都会随传播时长累积。</a:t>
            </a:r>
            <a:endParaRPr sz="109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圆角矩形 41"/>
          <p:cNvSpPr>
            <a:spLocks noGrp="1"/>
          </p:cNvSpPr>
          <p:nvPr/>
        </p:nvSpPr>
        <p:spPr>
          <a:xfrm>
            <a:off x="5905500" y="4838700"/>
            <a:ext cx="4095750" cy="742950"/>
          </a:xfrm>
          <a:prstGeom prst="roundRect">
            <a:avLst>
              <a:gd name="adj" fmla="val 10256"/>
            </a:avLst>
          </a:prstGeom>
          <a:solidFill>
            <a:srgbClr val="FFF8F4"/>
          </a:solidFill>
          <a:ln w="9525">
            <a:solidFill>
              <a:srgbClr val="F3CAB8"/>
            </a:solidFill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6172200" y="501015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350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统计入口</a:t>
            </a:r>
            <a:endParaRPr sz="1350" b="1">
              <a:solidFill>
                <a:srgbClr val="F05A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334250" y="4953000"/>
            <a:ext cx="2095500" cy="3810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>
              <a:lnSpc>
                <a:spcPct val="106000"/>
              </a:lnSpc>
              <a:buNone/>
            </a:pPr>
            <a:r>
              <a:rPr sz="109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后续 TLE 可提供同一公开编目体系下的近似参考，用于构造可重复的预报误差样本。</a:t>
            </a:r>
            <a:endParaRPr sz="109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144000" y="0"/>
            <a:ext cx="3048000" cy="552450"/>
          </a:xfrm>
          <a:prstGeom prst="rect">
            <a:avLst/>
          </a:prstGeom>
          <a:solidFill>
            <a:srgbClr val="78D5EF"/>
          </a:solidFill>
          <a:ln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381000" y="123825"/>
            <a:ext cx="47625" cy="304800"/>
          </a:xfrm>
          <a:prstGeom prst="rect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14300"/>
            <a:ext cx="809625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原理二：同一目标时刻的两条轨道差分定义误差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6362700"/>
            <a:ext cx="12192000" cy="495300"/>
          </a:xfrm>
          <a:prstGeom prst="rect">
            <a:avLst/>
          </a:prstGeom>
          <a:solidFill>
            <a:srgbClr val="78D5EF"/>
          </a:solidFill>
          <a:ln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0" y="6362700"/>
            <a:ext cx="8858250" cy="49530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810250" y="6486525"/>
            <a:ext cx="5715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81000" y="6048375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825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TLE/SGP4 轨道预报误差统计分析</a:t>
            </a:r>
            <a:endParaRPr sz="825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89535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575" b="1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旧 TLE 传播到目标时刻 t* 形成预报位置；新 TLE 在 t* 附近传播到同一时刻形成参考位置。</a:t>
            </a:r>
            <a:endParaRPr sz="1575" b="1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62000" y="1390650"/>
            <a:ext cx="99060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8E6EF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524000" y="2962275"/>
            <a:ext cx="7981950" cy="19050"/>
          </a:xfrm>
          <a:prstGeom prst="rect">
            <a:avLst/>
          </a:prstGeom>
          <a:solidFill>
            <a:srgbClr val="1D5E8C"/>
          </a:solidFill>
          <a:ln>
            <a:noFill/>
          </a:ln>
        </p:spPr>
      </p:sp>
      <p:sp>
        <p:nvSpPr>
          <p:cNvPr id="14" name="等腰三角形 13"/>
          <p:cNvSpPr>
            <a:spLocks noGrp="1"/>
          </p:cNvSpPr>
          <p:nvPr/>
        </p:nvSpPr>
        <p:spPr>
          <a:xfrm>
            <a:off x="9467850" y="2905125"/>
            <a:ext cx="133350" cy="133350"/>
          </a:xfrm>
          <a:prstGeom prst="triangle">
            <a:avLst/>
          </a:prstGeom>
          <a:solidFill>
            <a:srgbClr val="1D5E8C"/>
          </a:solidFill>
          <a:ln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334500" y="3067050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090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时间 t</a:t>
            </a:r>
            <a:endParaRPr sz="1090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181225" y="2057400"/>
            <a:ext cx="19050" cy="1123950"/>
          </a:xfrm>
          <a:prstGeom prst="rect">
            <a:avLst/>
          </a:prstGeom>
          <a:solidFill>
            <a:srgbClr val="1D5E8C"/>
          </a:solidFill>
          <a:ln>
            <a:noFill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986463" y="1676400"/>
            <a:ext cx="28575" cy="1600200"/>
          </a:xfrm>
          <a:prstGeom prst="rect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562725" y="2190750"/>
            <a:ext cx="19050" cy="990600"/>
          </a:xfrm>
          <a:prstGeom prst="rect">
            <a:avLst/>
          </a:prstGeom>
          <a:solidFill>
            <a:srgbClr val="2B9C6A"/>
          </a:solidFill>
          <a:ln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381625" y="1847850"/>
            <a:ext cx="1809750" cy="76200"/>
          </a:xfrm>
          <a:prstGeom prst="rect">
            <a:avLst/>
          </a:prstGeom>
          <a:solidFill>
            <a:srgbClr val="F3CAB8"/>
          </a:solidFill>
          <a:ln>
            <a:noFill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534025" y="1581150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1015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参考 TLE 搜索窗：t* ± 12h</a:t>
            </a:r>
            <a:endParaRPr sz="1015" b="1">
              <a:solidFill>
                <a:srgbClr val="F05A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638300" y="3257550"/>
            <a:ext cx="1104900" cy="1905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1015" b="0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t_i 旧TLE历元</a:t>
            </a:r>
            <a:endParaRPr sz="1015" b="0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257800" y="3257550"/>
            <a:ext cx="990600" cy="1905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1015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t* = t_i + h</a:t>
            </a:r>
            <a:endParaRPr sz="1015" b="1">
              <a:solidFill>
                <a:srgbClr val="F05A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362700" y="3486150"/>
            <a:ext cx="1123950" cy="1905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1015" b="0">
                <a:solidFill>
                  <a:srgbClr val="2B9C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2B9C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t_j 新TLE历元</a:t>
            </a:r>
            <a:endParaRPr sz="1015" b="0">
              <a:solidFill>
                <a:srgbClr val="2B9C6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2152650" y="2686050"/>
            <a:ext cx="76200" cy="76200"/>
          </a:xfrm>
          <a:prstGeom prst="ellipse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25" name="椭圆 24"/>
          <p:cNvSpPr>
            <a:spLocks noGrp="1"/>
          </p:cNvSpPr>
          <p:nvPr/>
        </p:nvSpPr>
        <p:spPr>
          <a:xfrm>
            <a:off x="3390900" y="2533650"/>
            <a:ext cx="76200" cy="76200"/>
          </a:xfrm>
          <a:prstGeom prst="ellipse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2190750" y="2633663"/>
            <a:ext cx="1238250" cy="28575"/>
          </a:xfrm>
          <a:prstGeom prst="rect">
            <a:avLst/>
          </a:prstGeom>
          <a:solidFill>
            <a:srgbClr val="AEDFF0"/>
          </a:solidFill>
          <a:ln>
            <a:noFill/>
          </a:ln>
        </p:spPr>
      </p:sp>
      <p:sp>
        <p:nvSpPr>
          <p:cNvPr id="27" name="椭圆 26"/>
          <p:cNvSpPr>
            <a:spLocks noGrp="1"/>
          </p:cNvSpPr>
          <p:nvPr/>
        </p:nvSpPr>
        <p:spPr>
          <a:xfrm>
            <a:off x="4724400" y="2362200"/>
            <a:ext cx="76200" cy="76200"/>
          </a:xfrm>
          <a:prstGeom prst="ellipse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3429000" y="2471738"/>
            <a:ext cx="1333500" cy="28575"/>
          </a:xfrm>
          <a:prstGeom prst="rect">
            <a:avLst/>
          </a:prstGeom>
          <a:solidFill>
            <a:srgbClr val="AEDFF0"/>
          </a:solidFill>
          <a:ln>
            <a:noFill/>
          </a:ln>
        </p:spPr>
      </p:sp>
      <p:sp>
        <p:nvSpPr>
          <p:cNvPr id="29" name="椭圆 28"/>
          <p:cNvSpPr>
            <a:spLocks noGrp="1"/>
          </p:cNvSpPr>
          <p:nvPr/>
        </p:nvSpPr>
        <p:spPr>
          <a:xfrm>
            <a:off x="5943600" y="2133600"/>
            <a:ext cx="114300" cy="114300"/>
          </a:xfrm>
          <a:prstGeom prst="ellipse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762500" y="2281238"/>
            <a:ext cx="1238250" cy="28575"/>
          </a:xfrm>
          <a:prstGeom prst="rect">
            <a:avLst/>
          </a:prstGeom>
          <a:solidFill>
            <a:srgbClr val="AEDFF0"/>
          </a:solidFill>
          <a:ln>
            <a:noFill/>
          </a:ln>
        </p:spPr>
      </p:sp>
      <p:sp>
        <p:nvSpPr>
          <p:cNvPr id="31" name="椭圆 30"/>
          <p:cNvSpPr>
            <a:spLocks noGrp="1"/>
          </p:cNvSpPr>
          <p:nvPr/>
        </p:nvSpPr>
        <p:spPr>
          <a:xfrm>
            <a:off x="7200900" y="2000250"/>
            <a:ext cx="76200" cy="76200"/>
          </a:xfrm>
          <a:prstGeom prst="ellipse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000750" y="2100263"/>
            <a:ext cx="1238250" cy="28575"/>
          </a:xfrm>
          <a:prstGeom prst="rect">
            <a:avLst/>
          </a:prstGeom>
          <a:solidFill>
            <a:srgbClr val="AEDFF0"/>
          </a:solidFill>
          <a:ln>
            <a:noFill/>
          </a:ln>
        </p:spPr>
      </p:sp>
      <p:sp>
        <p:nvSpPr>
          <p:cNvPr id="33" name="椭圆 32"/>
          <p:cNvSpPr>
            <a:spLocks noGrp="1"/>
          </p:cNvSpPr>
          <p:nvPr/>
        </p:nvSpPr>
        <p:spPr>
          <a:xfrm>
            <a:off x="8534400" y="1828800"/>
            <a:ext cx="76200" cy="76200"/>
          </a:xfrm>
          <a:prstGeom prst="ellipse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7239000" y="1938338"/>
            <a:ext cx="1333500" cy="28575"/>
          </a:xfrm>
          <a:prstGeom prst="rect">
            <a:avLst/>
          </a:prstGeom>
          <a:solidFill>
            <a:srgbClr val="AEDFF0"/>
          </a:solidFill>
          <a:ln>
            <a:noFill/>
          </a:ln>
        </p:spPr>
      </p:sp>
      <p:sp>
        <p:nvSpPr>
          <p:cNvPr id="35" name="椭圆 34"/>
          <p:cNvSpPr>
            <a:spLocks noGrp="1"/>
          </p:cNvSpPr>
          <p:nvPr/>
        </p:nvSpPr>
        <p:spPr>
          <a:xfrm>
            <a:off x="5295900" y="2514600"/>
            <a:ext cx="76200" cy="76200"/>
          </a:xfrm>
          <a:prstGeom prst="ellipse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36" name="椭圆 35"/>
          <p:cNvSpPr>
            <a:spLocks noGrp="1"/>
          </p:cNvSpPr>
          <p:nvPr/>
        </p:nvSpPr>
        <p:spPr>
          <a:xfrm>
            <a:off x="5943600" y="2552700"/>
            <a:ext cx="114300" cy="114300"/>
          </a:xfrm>
          <a:prstGeom prst="ellipse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5334000" y="2566988"/>
            <a:ext cx="666750" cy="28575"/>
          </a:xfrm>
          <a:prstGeom prst="rect">
            <a:avLst/>
          </a:prstGeom>
          <a:solidFill>
            <a:srgbClr val="F5B99B"/>
          </a:solidFill>
          <a:ln>
            <a:noFill/>
          </a:ln>
        </p:spPr>
      </p:sp>
      <p:sp>
        <p:nvSpPr>
          <p:cNvPr id="38" name="椭圆 37"/>
          <p:cNvSpPr>
            <a:spLocks noGrp="1"/>
          </p:cNvSpPr>
          <p:nvPr/>
        </p:nvSpPr>
        <p:spPr>
          <a:xfrm>
            <a:off x="6629400" y="2647950"/>
            <a:ext cx="76200" cy="76200"/>
          </a:xfrm>
          <a:prstGeom prst="ellipse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000750" y="2633663"/>
            <a:ext cx="666750" cy="28575"/>
          </a:xfrm>
          <a:prstGeom prst="rect">
            <a:avLst/>
          </a:prstGeom>
          <a:solidFill>
            <a:srgbClr val="F5B99B"/>
          </a:solidFill>
          <a:ln>
            <a:noFill/>
          </a:ln>
        </p:spPr>
      </p:sp>
      <p:sp>
        <p:nvSpPr>
          <p:cNvPr id="40" name="椭圆 39"/>
          <p:cNvSpPr>
            <a:spLocks noGrp="1"/>
          </p:cNvSpPr>
          <p:nvPr/>
        </p:nvSpPr>
        <p:spPr>
          <a:xfrm>
            <a:off x="7391400" y="2743200"/>
            <a:ext cx="76200" cy="76200"/>
          </a:xfrm>
          <a:prstGeom prst="ellipse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6667500" y="2719388"/>
            <a:ext cx="762000" cy="28575"/>
          </a:xfrm>
          <a:prstGeom prst="rect">
            <a:avLst/>
          </a:prstGeom>
          <a:solidFill>
            <a:srgbClr val="F5B99B"/>
          </a:solidFill>
          <a:ln>
            <a:noFill/>
          </a:ln>
        </p:spPr>
      </p:sp>
      <p:sp>
        <p:nvSpPr>
          <p:cNvPr id="42" name="椭圆 41"/>
          <p:cNvSpPr>
            <a:spLocks noGrp="1"/>
          </p:cNvSpPr>
          <p:nvPr/>
        </p:nvSpPr>
        <p:spPr>
          <a:xfrm>
            <a:off x="8153400" y="2819400"/>
            <a:ext cx="76200" cy="76200"/>
          </a:xfrm>
          <a:prstGeom prst="ellipse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7429500" y="2805113"/>
            <a:ext cx="762000" cy="28575"/>
          </a:xfrm>
          <a:prstGeom prst="rect">
            <a:avLst/>
          </a:prstGeom>
          <a:solidFill>
            <a:srgbClr val="F5B99B"/>
          </a:solidFill>
          <a:ln>
            <a:noFill/>
          </a:ln>
        </p:spPr>
      </p:sp>
      <p:sp>
        <p:nvSpPr>
          <p:cNvPr id="44" name="矩形 43"/>
          <p:cNvSpPr>
            <a:spLocks noGrp="1"/>
          </p:cNvSpPr>
          <p:nvPr/>
        </p:nvSpPr>
        <p:spPr>
          <a:xfrm>
            <a:off x="5986463" y="2190750"/>
            <a:ext cx="28575" cy="419100"/>
          </a:xfrm>
          <a:prstGeom prst="rect">
            <a:avLst/>
          </a:prstGeom>
          <a:solidFill>
            <a:srgbClr val="D94B3D"/>
          </a:solidFill>
          <a:ln>
            <a:noFill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4810125" y="2038350"/>
            <a:ext cx="1028700" cy="1905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1050" b="1">
                <a:solidFill>
                  <a:srgbClr val="08A8D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08A8D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r_pred(t*)</a:t>
            </a:r>
            <a:endParaRPr sz="1050" b="1">
              <a:solidFill>
                <a:srgbClr val="08A8D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6153150" y="2628900"/>
            <a:ext cx="914400" cy="1905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1050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r_ref(t*)</a:t>
            </a:r>
            <a:endParaRPr sz="1050" b="1">
              <a:solidFill>
                <a:srgbClr val="F05A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5581650" y="2305050"/>
            <a:ext cx="552450" cy="209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1125" b="1">
                <a:solidFill>
                  <a:srgbClr val="D94B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D94B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e(t*)</a:t>
            </a:r>
            <a:endParaRPr sz="1125" b="1">
              <a:solidFill>
                <a:srgbClr val="D94B3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圆角矩形 47"/>
          <p:cNvSpPr>
            <a:spLocks noGrp="1"/>
          </p:cNvSpPr>
          <p:nvPr/>
        </p:nvSpPr>
        <p:spPr>
          <a:xfrm>
            <a:off x="914400" y="4038600"/>
            <a:ext cx="4953000" cy="1257300"/>
          </a:xfrm>
          <a:prstGeom prst="roundRect">
            <a:avLst>
              <a:gd name="adj" fmla="val 6061"/>
            </a:avLst>
          </a:prstGeom>
          <a:solidFill>
            <a:srgbClr val="FAFDFF"/>
          </a:solidFill>
          <a:ln w="9525">
            <a:solidFill>
              <a:srgbClr val="D8E6EF"/>
            </a:solidFill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1181100" y="4191000"/>
            <a:ext cx="2190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350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误差向量与标量误差</a:t>
            </a:r>
            <a:endParaRPr sz="1350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1181100" y="45339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500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e_{s,i,h} = r_pred(t*) - r_ref(t*)</a:t>
            </a:r>
            <a:endParaRPr sz="1500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1181100" y="4857750"/>
            <a:ext cx="2857500" cy="2476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500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E_{s,i,h} = ||e_{s,i,h}||₂</a:t>
            </a:r>
            <a:endParaRPr sz="1500" b="1">
              <a:solidFill>
                <a:srgbClr val="F05A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181100" y="5105400"/>
            <a:ext cx="3714750" cy="1714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01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 用于误差量级统计；e 向量保留方向信息。</a:t>
            </a:r>
            <a:endParaRPr sz="101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6381750" y="4038600"/>
            <a:ext cx="4000500" cy="1257300"/>
          </a:xfrm>
          <a:prstGeom prst="roundRect">
            <a:avLst>
              <a:gd name="adj" fmla="val 6061"/>
            </a:avLst>
          </a:prstGeom>
          <a:solidFill>
            <a:srgbClr val="FFF8F4"/>
          </a:solidFill>
          <a:ln w="9525">
            <a:solidFill>
              <a:srgbClr val="F3CAB8"/>
            </a:solidFill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6648450" y="4191000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350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RIC 分解</a:t>
            </a:r>
            <a:endParaRPr sz="1350" b="1">
              <a:solidFill>
                <a:srgbClr val="F05A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6648450" y="4533900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350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e_RIC = C_TEME→RIC · e</a:t>
            </a:r>
            <a:endParaRPr sz="1350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6648450" y="4800600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350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= [e_R, e_I, e_C]ᵀ</a:t>
            </a:r>
            <a:endParaRPr sz="1350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6648450" y="5067300"/>
            <a:ext cx="3048000" cy="1905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05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 径向、I 沿迹、C 法向；用于估计协方差 Σ_{g,h}。</a:t>
            </a:r>
            <a:endParaRPr sz="105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144000" y="0"/>
            <a:ext cx="3048000" cy="552450"/>
          </a:xfrm>
          <a:prstGeom prst="rect">
            <a:avLst/>
          </a:prstGeom>
          <a:solidFill>
            <a:srgbClr val="78D5EF"/>
          </a:solidFill>
          <a:ln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381000" y="123825"/>
            <a:ext cx="47625" cy="304800"/>
          </a:xfrm>
          <a:prstGeom prst="rect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14300"/>
            <a:ext cx="809625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原理三：从误差样本到统计量、增长律与检验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6362700"/>
            <a:ext cx="12192000" cy="495300"/>
          </a:xfrm>
          <a:prstGeom prst="rect">
            <a:avLst/>
          </a:prstGeom>
          <a:solidFill>
            <a:srgbClr val="78D5EF"/>
          </a:solidFill>
          <a:ln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0" y="6362700"/>
            <a:ext cx="8858250" cy="49530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810250" y="6486525"/>
            <a:ext cx="5715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81000" y="6048375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825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TLE/SGP4 轨道预报误差统计分析</a:t>
            </a:r>
            <a:endParaRPr sz="825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89535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575" b="1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对每个轨道类型 g 和预报时长 h，先形成误差样本集 D_{g,h}，再估计统计量和不确定性。</a:t>
            </a:r>
            <a:endParaRPr sz="1575" b="1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81050" y="1390650"/>
            <a:ext cx="9906000" cy="390525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D8E6EF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745956" y="1638300"/>
            <a:ext cx="14288" cy="3371850"/>
          </a:xfrm>
          <a:prstGeom prst="rect">
            <a:avLst/>
          </a:prstGeom>
          <a:solidFill>
            <a:srgbClr val="D8E6EF"/>
          </a:solidFill>
          <a:ln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047750" y="3345656"/>
            <a:ext cx="9353550" cy="14288"/>
          </a:xfrm>
          <a:prstGeom prst="rect">
            <a:avLst/>
          </a:prstGeom>
          <a:solidFill>
            <a:srgbClr val="D8E6EF"/>
          </a:solidFill>
          <a:ln>
            <a:noFill/>
          </a:ln>
        </p:spPr>
      </p:sp>
      <p:sp>
        <p:nvSpPr>
          <p:cNvPr id="15" name="椭圆 14"/>
          <p:cNvSpPr>
            <a:spLocks noGrp="1"/>
          </p:cNvSpPr>
          <p:nvPr/>
        </p:nvSpPr>
        <p:spPr>
          <a:xfrm>
            <a:off x="1066800" y="1685925"/>
            <a:ext cx="114300" cy="114300"/>
          </a:xfrm>
          <a:prstGeom prst="ellipse">
            <a:avLst/>
          </a:prstGeom>
          <a:solidFill>
            <a:srgbClr val="1D5E8C"/>
          </a:solidFill>
          <a:ln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295400" y="16383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350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A. 误差样本与量级统计</a:t>
            </a:r>
            <a:endParaRPr sz="1350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295400" y="20002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350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D_{g,h} = {E_{s,i,h} | orbit(s)=g}</a:t>
            </a:r>
            <a:endParaRPr sz="1350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295400" y="2362200"/>
            <a:ext cx="3905250" cy="4762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>
              <a:lnSpc>
                <a:spcPct val="108000"/>
              </a:lnSpc>
              <a:buNone/>
            </a:pPr>
            <a:r>
              <a:rPr sz="109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median(D)、RMSE = √(n⁻¹ΣE²)、q₀.₉₅</a:t>
            </a:r>
            <a:endParaRPr sz="109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08000"/>
              </a:lnSpc>
              <a:buNone/>
            </a:pPr>
            <a:r>
              <a:rPr sz="109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中位数刻画典型误差；RMSE 和 q₀.₉₅刻画长尾风险。</a:t>
            </a:r>
            <a:endParaRPr sz="109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6057900" y="1685925"/>
            <a:ext cx="114300" cy="114300"/>
          </a:xfrm>
          <a:prstGeom prst="ellipse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286500" y="16383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350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B. 误差增长律</a:t>
            </a:r>
            <a:endParaRPr sz="1350" b="1">
              <a:solidFill>
                <a:srgbClr val="F05A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286500" y="200025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350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m_g(h)=median(D_{g,h}) = a_g h^{b_g}</a:t>
            </a:r>
            <a:endParaRPr sz="1350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86500" y="2362200"/>
            <a:ext cx="3905250" cy="4762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>
              <a:lnSpc>
                <a:spcPct val="108000"/>
              </a:lnSpc>
              <a:buNone/>
            </a:pPr>
            <a:r>
              <a:rPr sz="109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log m_g(h)=log a_g + b_g log h</a:t>
            </a:r>
            <a:endParaRPr sz="109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08000"/>
              </a:lnSpc>
              <a:buNone/>
            </a:pPr>
            <a:r>
              <a:rPr sz="109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b_g &gt; 1 表示短期误差随时长超线性增长。</a:t>
            </a:r>
            <a:endParaRPr sz="109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1066800" y="3648075"/>
            <a:ext cx="114300" cy="114300"/>
          </a:xfrm>
          <a:prstGeom prst="ellipse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1295400" y="360045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350" b="1">
                <a:solidFill>
                  <a:srgbClr val="08A8D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C. Bootstrap / BCa 区间</a:t>
            </a:r>
            <a:endParaRPr sz="1350" b="1">
              <a:solidFill>
                <a:srgbClr val="08A8D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295400" y="396240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350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D*_{g,h,b} ~ resample(D_{g,h}),  θ*_b=f(D*)</a:t>
            </a:r>
            <a:endParaRPr sz="1350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295400" y="4324350"/>
            <a:ext cx="3905250" cy="4762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>
              <a:lnSpc>
                <a:spcPct val="108000"/>
              </a:lnSpc>
              <a:buNone/>
            </a:pPr>
            <a:r>
              <a:rPr sz="109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CI_pct=[q₂.₅%, q₉₇.₅%]；CI_BCa 修正偏差和偏态</a:t>
            </a:r>
            <a:endParaRPr sz="109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08000"/>
              </a:lnSpc>
              <a:buNone/>
            </a:pPr>
            <a:r>
              <a:rPr sz="109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用于均值、中位数、RMSE 等统计量的不确定性估计。</a:t>
            </a:r>
            <a:endParaRPr sz="109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椭圆 26"/>
          <p:cNvSpPr>
            <a:spLocks noGrp="1"/>
          </p:cNvSpPr>
          <p:nvPr/>
        </p:nvSpPr>
        <p:spPr>
          <a:xfrm>
            <a:off x="6057900" y="3648075"/>
            <a:ext cx="114300" cy="114300"/>
          </a:xfrm>
          <a:prstGeom prst="ellipse">
            <a:avLst/>
          </a:prstGeom>
          <a:solidFill>
            <a:srgbClr val="2B9C6A"/>
          </a:solidFill>
          <a:ln>
            <a:noFill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6286500" y="360045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350" b="1">
                <a:solidFill>
                  <a:srgbClr val="2B9C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D. 轨道差异与协方差</a:t>
            </a:r>
            <a:endParaRPr sz="1350" b="1">
              <a:solidFill>
                <a:srgbClr val="2B9C6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286500" y="3962400"/>
            <a:ext cx="400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350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Σ_{g,h}=Cov(e_RIC),   Σ(h)=ΦΣ₀Φᵀ+Q</a:t>
            </a:r>
            <a:endParaRPr sz="1350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286500" y="4324350"/>
            <a:ext cx="3905250" cy="4762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>
              <a:lnSpc>
                <a:spcPct val="108000"/>
              </a:lnSpc>
              <a:buNone/>
            </a:pPr>
            <a:r>
              <a:rPr sz="109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Levene 检查方差齐性；Kruskal-Wallis 检验三组差异；</a:t>
            </a:r>
            <a:endParaRPr sz="109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>
              <a:lnSpc>
                <a:spcPct val="108000"/>
              </a:lnSpc>
              <a:buNone/>
            </a:pPr>
            <a:r>
              <a:rPr sz="109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Mann-Whitney U 进行两两比较。</a:t>
            </a:r>
            <a:endParaRPr sz="109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1962150" y="5505450"/>
            <a:ext cx="7239000" cy="323850"/>
          </a:xfrm>
          <a:prstGeom prst="roundRect">
            <a:avLst>
              <a:gd name="adj" fmla="val 23529"/>
            </a:avLst>
          </a:prstGeom>
          <a:solidFill>
            <a:srgbClr val="FAFDFF"/>
          </a:solidFill>
          <a:ln w="9525">
            <a:solidFill>
              <a:srgbClr val="D8E6EF"/>
            </a:solidFill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2152650" y="5572125"/>
            <a:ext cx="6858000" cy="1714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1090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90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符号：g∈{LEO,MEO,GEO}，h∈{1,3,7}天，s 为目标，i 为旧 TLE 历元，b 为 Bootstrap 重采样编号。</a:t>
            </a:r>
            <a:endParaRPr sz="1090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144000" y="0"/>
            <a:ext cx="3048000" cy="552450"/>
          </a:xfrm>
          <a:prstGeom prst="rect">
            <a:avLst/>
          </a:prstGeom>
          <a:solidFill>
            <a:srgbClr val="78D5EF"/>
          </a:solidFill>
          <a:ln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381000" y="123825"/>
            <a:ext cx="47625" cy="304800"/>
          </a:xfrm>
          <a:prstGeom prst="rect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14300"/>
            <a:ext cx="809625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数据构建：平衡抽样支持三类轨道比较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6362700"/>
            <a:ext cx="12192000" cy="495300"/>
          </a:xfrm>
          <a:prstGeom prst="rect">
            <a:avLst/>
          </a:prstGeom>
          <a:solidFill>
            <a:srgbClr val="78D5EF"/>
          </a:solidFill>
          <a:ln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0" y="6362700"/>
            <a:ext cx="8858250" cy="49530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810250" y="6486525"/>
            <a:ext cx="5715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81000" y="6048375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825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TLE/SGP4 轨道预报误差统计分析</a:t>
            </a:r>
            <a:endParaRPr sz="825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914400"/>
            <a:ext cx="9810750" cy="304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575" b="1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每类轨道抽取 25 个公开编目目标，形成 LEO、MEO、GEO 三组可比较样本。</a:t>
            </a:r>
            <a:endParaRPr sz="1575" b="1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04850" y="1524000"/>
            <a:ext cx="2952750" cy="904875"/>
          </a:xfrm>
          <a:prstGeom prst="roundRect">
            <a:avLst>
              <a:gd name="adj" fmla="val 8421"/>
            </a:avLst>
          </a:prstGeom>
          <a:solidFill>
            <a:srgbClr val="F4F8FB"/>
          </a:solidFill>
          <a:ln w="9525">
            <a:solidFill>
              <a:srgbClr val="D8E6EF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04850" y="1524000"/>
            <a:ext cx="57150" cy="904875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76300" y="1638300"/>
            <a:ext cx="268605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875" b="1">
                <a:solidFill>
                  <a:srgbClr val="08A8D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25</a:t>
            </a:r>
            <a:endParaRPr sz="1875" b="1">
              <a:solidFill>
                <a:srgbClr val="08A8D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76300" y="2000250"/>
            <a:ext cx="26860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050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LEO：低轨地球观测/气象目标</a:t>
            </a:r>
            <a:endParaRPr sz="1050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038600" y="1524000"/>
            <a:ext cx="2952750" cy="904875"/>
          </a:xfrm>
          <a:prstGeom prst="roundRect">
            <a:avLst>
              <a:gd name="adj" fmla="val 8421"/>
            </a:avLst>
          </a:prstGeom>
          <a:solidFill>
            <a:srgbClr val="F4F8FB"/>
          </a:solidFill>
          <a:ln w="9525">
            <a:solidFill>
              <a:srgbClr val="D8E6EF"/>
            </a:solidFill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4038600" y="1524000"/>
            <a:ext cx="57150" cy="904875"/>
          </a:xfrm>
          <a:prstGeom prst="rect">
            <a:avLst/>
          </a:prstGeom>
          <a:solidFill>
            <a:srgbClr val="2B9C6A"/>
          </a:solidFill>
          <a:ln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210050" y="1638300"/>
            <a:ext cx="268605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875" b="1">
                <a:solidFill>
                  <a:srgbClr val="2B9C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25</a:t>
            </a:r>
            <a:endParaRPr sz="1875" b="1">
              <a:solidFill>
                <a:srgbClr val="2B9C6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210050" y="2000250"/>
            <a:ext cx="26860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050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MEO：GPS operational satellites</a:t>
            </a:r>
            <a:endParaRPr sz="1050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372350" y="1524000"/>
            <a:ext cx="2952750" cy="904875"/>
          </a:xfrm>
          <a:prstGeom prst="roundRect">
            <a:avLst>
              <a:gd name="adj" fmla="val 8421"/>
            </a:avLst>
          </a:prstGeom>
          <a:solidFill>
            <a:srgbClr val="F4F8FB"/>
          </a:solidFill>
          <a:ln w="9525">
            <a:solidFill>
              <a:srgbClr val="D8E6EF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372350" y="1524000"/>
            <a:ext cx="57150" cy="904875"/>
          </a:xfrm>
          <a:prstGeom prst="rect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543800" y="1638300"/>
            <a:ext cx="268605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875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25</a:t>
            </a:r>
            <a:endParaRPr sz="1875" b="1">
              <a:solidFill>
                <a:srgbClr val="F05A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543800" y="2000250"/>
            <a:ext cx="26860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050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GEO：地球同步气象/通信目标</a:t>
            </a:r>
            <a:endParaRPr sz="1050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09650" y="3067050"/>
            <a:ext cx="7524750" cy="400050"/>
          </a:xfrm>
          <a:prstGeom prst="rect">
            <a:avLst/>
          </a:prstGeom>
          <a:solidFill>
            <a:srgbClr val="1D5E8C"/>
          </a:solidFill>
          <a:ln w="7620">
            <a:solidFill>
              <a:srgbClr val="D8E6EF"/>
            </a:solidFill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047750" y="3095625"/>
            <a:ext cx="15430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轨道类型</a:t>
            </a:r>
            <a:endParaRPr sz="11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667000" y="3095625"/>
            <a:ext cx="14478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1天样本</a:t>
            </a:r>
            <a:endParaRPr sz="11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191000" y="3095625"/>
            <a:ext cx="14478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3天样本</a:t>
            </a:r>
            <a:endParaRPr sz="11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715000" y="3095625"/>
            <a:ext cx="14478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7天样本</a:t>
            </a:r>
            <a:endParaRPr sz="11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239000" y="3095625"/>
            <a:ext cx="12573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目标数</a:t>
            </a:r>
            <a:endParaRPr sz="11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09650" y="3467100"/>
            <a:ext cx="75247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8E6EF"/>
            </a:solidFill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047750" y="3495675"/>
            <a:ext cx="15430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GEO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2667000" y="3495675"/>
            <a:ext cx="14478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4,641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191000" y="3495675"/>
            <a:ext cx="14478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4,393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715000" y="3495675"/>
            <a:ext cx="14478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4,188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7239000" y="3495675"/>
            <a:ext cx="12573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25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009650" y="3867150"/>
            <a:ext cx="7524750" cy="400050"/>
          </a:xfrm>
          <a:prstGeom prst="rect">
            <a:avLst/>
          </a:prstGeom>
          <a:solidFill>
            <a:srgbClr val="F7FBFE"/>
          </a:solidFill>
          <a:ln w="7620">
            <a:solidFill>
              <a:srgbClr val="D8E6EF"/>
            </a:solidFill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047750" y="3895725"/>
            <a:ext cx="15430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LEO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2667000" y="3895725"/>
            <a:ext cx="14478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7,813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4191000" y="3895725"/>
            <a:ext cx="14478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7,651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5715000" y="3895725"/>
            <a:ext cx="14478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7,291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7239000" y="3895725"/>
            <a:ext cx="12573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25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009650" y="4267200"/>
            <a:ext cx="752475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8E6EF"/>
            </a:solidFill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047750" y="4295775"/>
            <a:ext cx="15430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MEO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2667000" y="4295775"/>
            <a:ext cx="14478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2,447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4191000" y="4295775"/>
            <a:ext cx="14478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2,423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5715000" y="4295775"/>
            <a:ext cx="14478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2,278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7239000" y="4295775"/>
            <a:ext cx="12573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25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009650" y="4953000"/>
            <a:ext cx="8572500" cy="4191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>
              <a:lnSpc>
                <a:spcPct val="108000"/>
              </a:lnSpc>
              <a:buNone/>
            </a:pPr>
            <a:r>
              <a:rPr sz="1275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数据来源：Space-Track gp_history，时间窗口 2025-01-01 至 2025-03-31。标准化后得到 16,214 条 TLE 记录和 43,125 条误差样本。</a:t>
            </a:r>
            <a:endParaRPr sz="1275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144000" y="0"/>
            <a:ext cx="3048000" cy="552450"/>
          </a:xfrm>
          <a:prstGeom prst="rect">
            <a:avLst/>
          </a:prstGeom>
          <a:solidFill>
            <a:srgbClr val="78D5EF"/>
          </a:solidFill>
          <a:ln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381000" y="123825"/>
            <a:ext cx="47625" cy="304800"/>
          </a:xfrm>
          <a:prstGeom prst="rect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14300"/>
            <a:ext cx="809625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结论一：1/3/7 天误差量级随时间增大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6362700"/>
            <a:ext cx="12192000" cy="495300"/>
          </a:xfrm>
          <a:prstGeom prst="rect">
            <a:avLst/>
          </a:prstGeom>
          <a:solidFill>
            <a:srgbClr val="78D5EF"/>
          </a:solidFill>
          <a:ln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0" y="6362700"/>
            <a:ext cx="8858250" cy="49530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810250" y="6486525"/>
            <a:ext cx="5715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81000" y="6048375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825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TLE/SGP4 轨道预报误差统计分析</a:t>
            </a:r>
            <a:endParaRPr sz="825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895350"/>
            <a:ext cx="9334500" cy="285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575" b="1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中位数刻画典型误差，均值和 RMSE 反映长尾风险；二者差异显示误差分布偏态。</a:t>
            </a:r>
            <a:endParaRPr sz="1575" b="1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66750" y="1390650"/>
            <a:ext cx="7219950" cy="323850"/>
          </a:xfrm>
          <a:prstGeom prst="rect">
            <a:avLst/>
          </a:prstGeom>
          <a:solidFill>
            <a:srgbClr val="1D5E8C"/>
          </a:solidFill>
          <a:ln w="7620">
            <a:solidFill>
              <a:srgbClr val="D8E6EF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04850" y="1419225"/>
            <a:ext cx="8001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轨道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581150" y="1419225"/>
            <a:ext cx="6477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天数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305050" y="14192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样本量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429000" y="14192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均值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552950" y="14192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中位数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676900" y="14192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RMSE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00850" y="14192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95%分位</a:t>
            </a:r>
            <a:endParaRPr sz="97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66750" y="1714500"/>
            <a:ext cx="721995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D8E6EF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704850" y="1743075"/>
            <a:ext cx="8001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GEO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581150" y="1743075"/>
            <a:ext cx="6477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305050" y="17430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4,641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429000" y="17430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3.383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552950" y="17430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0.626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676900" y="17430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13.037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00850" y="17430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15.032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66750" y="2038350"/>
            <a:ext cx="7219950" cy="323850"/>
          </a:xfrm>
          <a:prstGeom prst="rect">
            <a:avLst/>
          </a:prstGeom>
          <a:solidFill>
            <a:srgbClr val="F7FBFE"/>
          </a:solidFill>
          <a:ln w="7620">
            <a:solidFill>
              <a:srgbClr val="D8E6EF"/>
            </a:solidFill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704850" y="2066925"/>
            <a:ext cx="8001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GEO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581150" y="2066925"/>
            <a:ext cx="6477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305050" y="20669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4,393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429000" y="20669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9.901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4552950" y="20669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2.627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676900" y="20669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25.299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800850" y="20669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36.668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66750" y="2362200"/>
            <a:ext cx="721995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D8E6EF"/>
            </a:solidFill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704850" y="2390775"/>
            <a:ext cx="8001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GEO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581150" y="2390775"/>
            <a:ext cx="6477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2305050" y="23907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4,188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3429000" y="23907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32.181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4552950" y="23907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11.134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5676900" y="23907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63.670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800850" y="23907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130.029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66750" y="2686050"/>
            <a:ext cx="7219950" cy="323850"/>
          </a:xfrm>
          <a:prstGeom prst="rect">
            <a:avLst/>
          </a:prstGeom>
          <a:solidFill>
            <a:srgbClr val="F7FBFE"/>
          </a:solidFill>
          <a:ln w="7620">
            <a:solidFill>
              <a:srgbClr val="D8E6EF"/>
            </a:solidFill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704850" y="2714625"/>
            <a:ext cx="8001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LEO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581150" y="2714625"/>
            <a:ext cx="6477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2305050" y="27146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7,813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3429000" y="27146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0.420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4552950" y="27146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0.092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5676900" y="27146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1.984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6800850" y="27146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1.662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666750" y="3009900"/>
            <a:ext cx="721995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D8E6EF"/>
            </a:solidFill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704850" y="3038475"/>
            <a:ext cx="8001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LEO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1581150" y="3038475"/>
            <a:ext cx="6477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2305050" y="30384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7,651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3429000" y="30384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3.873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4552950" y="30384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0.494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5676900" y="30384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26.560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6800850" y="30384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14.980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666750" y="3333750"/>
            <a:ext cx="7219950" cy="323850"/>
          </a:xfrm>
          <a:prstGeom prst="rect">
            <a:avLst/>
          </a:prstGeom>
          <a:solidFill>
            <a:srgbClr val="F7FBFE"/>
          </a:solidFill>
          <a:ln w="7620">
            <a:solidFill>
              <a:srgbClr val="D8E6EF"/>
            </a:solidFill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704850" y="3362325"/>
            <a:ext cx="8001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LEO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1581150" y="3362325"/>
            <a:ext cx="6477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2305050" y="33623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7,291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3429000" y="33623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19.709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5" name="矩形 64"/>
          <p:cNvSpPr>
            <a:spLocks noGrp="1"/>
          </p:cNvSpPr>
          <p:nvPr/>
        </p:nvSpPr>
        <p:spPr>
          <a:xfrm>
            <a:off x="4552950" y="33623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1.825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5676900" y="33623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93.977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6800850" y="33623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86.564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666750" y="3657600"/>
            <a:ext cx="721995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D8E6EF"/>
            </a:solidFill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704850" y="3686175"/>
            <a:ext cx="8001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MEO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1581150" y="3686175"/>
            <a:ext cx="6477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2305050" y="36861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2,447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3429000" y="36861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0.268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4552950" y="36861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0.167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5676900" y="36861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1.683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6800850" y="36861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0.584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666750" y="3981450"/>
            <a:ext cx="7219950" cy="323850"/>
          </a:xfrm>
          <a:prstGeom prst="rect">
            <a:avLst/>
          </a:prstGeom>
          <a:solidFill>
            <a:srgbClr val="F7FBFE"/>
          </a:solidFill>
          <a:ln w="7620">
            <a:solidFill>
              <a:srgbClr val="D8E6EF"/>
            </a:solidFill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704850" y="4010025"/>
            <a:ext cx="8001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MEO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1581150" y="4010025"/>
            <a:ext cx="6477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2305050" y="40100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2,423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3429000" y="40100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1.133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4552950" y="40100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0.555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5676900" y="40100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8.035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6800850" y="401002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1.335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666750" y="4305300"/>
            <a:ext cx="7219950" cy="323850"/>
          </a:xfrm>
          <a:prstGeom prst="rect">
            <a:avLst/>
          </a:prstGeom>
          <a:solidFill>
            <a:srgbClr val="FFFFFF"/>
          </a:solidFill>
          <a:ln w="7620">
            <a:solidFill>
              <a:srgbClr val="D8E6EF"/>
            </a:solidFill>
          </a:ln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704850" y="4333875"/>
            <a:ext cx="8001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MEO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1581150" y="4333875"/>
            <a:ext cx="6477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2305050" y="43338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2,278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3429000" y="43338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4.162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4552950" y="43338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2.100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5676900" y="43338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22.088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6800850" y="4333875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4.397</a:t>
            </a:r>
            <a:endParaRPr sz="94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8096250" y="1657350"/>
            <a:ext cx="2857500" cy="1200150"/>
          </a:xfrm>
          <a:prstGeom prst="roundRect">
            <a:avLst>
              <a:gd name="adj" fmla="val 6349"/>
            </a:avLst>
          </a:prstGeom>
          <a:solidFill>
            <a:srgbClr val="FFF8F4"/>
          </a:solidFill>
          <a:ln w="9525">
            <a:solidFill>
              <a:srgbClr val="F3CAB8"/>
            </a:solidFill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8096250" y="1657350"/>
            <a:ext cx="57150" cy="1200150"/>
          </a:xfrm>
          <a:prstGeom prst="rect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94" name="矩形 93"/>
          <p:cNvSpPr>
            <a:spLocks noGrp="1"/>
          </p:cNvSpPr>
          <p:nvPr/>
        </p:nvSpPr>
        <p:spPr>
          <a:xfrm>
            <a:off x="8267700" y="177165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200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典型误差</a:t>
            </a:r>
            <a:endParaRPr sz="1200" b="1">
              <a:solidFill>
                <a:srgbClr val="F05A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8267700" y="2057400"/>
            <a:ext cx="2571750" cy="704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>
              <a:lnSpc>
                <a:spcPct val="108000"/>
              </a:lnSpc>
              <a:buNone/>
            </a:pPr>
            <a:r>
              <a:rPr sz="105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GEO 中位数从 0.626 km 增至 11.134 km，明显高于 LEO 和 MEO。</a:t>
            </a:r>
            <a:endParaRPr sz="105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6" name="圆角矩形 95"/>
          <p:cNvSpPr>
            <a:spLocks noGrp="1"/>
          </p:cNvSpPr>
          <p:nvPr/>
        </p:nvSpPr>
        <p:spPr>
          <a:xfrm>
            <a:off x="8096250" y="3238500"/>
            <a:ext cx="2857500" cy="1371600"/>
          </a:xfrm>
          <a:prstGeom prst="roundRect">
            <a:avLst>
              <a:gd name="adj" fmla="val 5556"/>
            </a:avLst>
          </a:prstGeom>
          <a:solidFill>
            <a:srgbClr val="FFF8F4"/>
          </a:solidFill>
          <a:ln w="9525">
            <a:solidFill>
              <a:srgbClr val="F3CAB8"/>
            </a:solidFill>
          </a:ln>
        </p:spPr>
      </p:sp>
      <p:sp>
        <p:nvSpPr>
          <p:cNvPr id="97" name="矩形 96"/>
          <p:cNvSpPr>
            <a:spLocks noGrp="1"/>
          </p:cNvSpPr>
          <p:nvPr/>
        </p:nvSpPr>
        <p:spPr>
          <a:xfrm>
            <a:off x="8096250" y="3238500"/>
            <a:ext cx="57150" cy="137160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98" name="矩形 97"/>
          <p:cNvSpPr>
            <a:spLocks noGrp="1"/>
          </p:cNvSpPr>
          <p:nvPr/>
        </p:nvSpPr>
        <p:spPr>
          <a:xfrm>
            <a:off x="8267700" y="335280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200" b="1">
                <a:solidFill>
                  <a:srgbClr val="08A8D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风险尾部</a:t>
            </a:r>
            <a:endParaRPr sz="1200" b="1">
              <a:solidFill>
                <a:srgbClr val="08A8D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9" name="矩形 98"/>
          <p:cNvSpPr>
            <a:spLocks noGrp="1"/>
          </p:cNvSpPr>
          <p:nvPr/>
        </p:nvSpPr>
        <p:spPr>
          <a:xfrm>
            <a:off x="8267700" y="3638550"/>
            <a:ext cx="2571750" cy="876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>
              <a:lnSpc>
                <a:spcPct val="108000"/>
              </a:lnSpc>
              <a:buNone/>
            </a:pPr>
            <a:r>
              <a:rPr sz="105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LEO 7天中位数仅 1.825 km，但 RMSE 达 93.977 km，说明极端样本不能忽略。</a:t>
            </a:r>
            <a:endParaRPr sz="105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144000" y="0"/>
            <a:ext cx="3048000" cy="552450"/>
          </a:xfrm>
          <a:prstGeom prst="rect">
            <a:avLst/>
          </a:prstGeom>
          <a:solidFill>
            <a:srgbClr val="78D5EF"/>
          </a:solidFill>
          <a:ln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381000" y="123825"/>
            <a:ext cx="47625" cy="304800"/>
          </a:xfrm>
          <a:prstGeom prst="rect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14300"/>
            <a:ext cx="809625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结论二：误差分布右偏且长尾明显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6362700"/>
            <a:ext cx="12192000" cy="495300"/>
          </a:xfrm>
          <a:prstGeom prst="rect">
            <a:avLst/>
          </a:prstGeom>
          <a:solidFill>
            <a:srgbClr val="78D5EF"/>
          </a:solidFill>
          <a:ln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0" y="6362700"/>
            <a:ext cx="8858250" cy="49530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810250" y="6486525"/>
            <a:ext cx="5715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81000" y="6048375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825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TLE/SGP4 轨道预报误差统计分析</a:t>
            </a:r>
            <a:endParaRPr sz="825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876300"/>
            <a:ext cx="9810750" cy="285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575" b="1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误差主体集中在低值区，少数极端样本拉长右尾并推高均值和 RMSE。</a:t>
            </a:r>
            <a:endParaRPr sz="1575" b="1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550" y="1647825"/>
            <a:ext cx="5143500" cy="30861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550" y="1704975"/>
            <a:ext cx="4953000" cy="2971800"/>
          </a:xfrm>
          <a:prstGeom prst="rect">
            <a:avLst/>
          </a:prstGeom>
        </p:spPr>
      </p:pic>
      <p:sp>
        <p:nvSpPr>
          <p:cNvPr id="14" name="圆角矩形 13"/>
          <p:cNvSpPr>
            <a:spLocks noGrp="1"/>
          </p:cNvSpPr>
          <p:nvPr/>
        </p:nvSpPr>
        <p:spPr>
          <a:xfrm>
            <a:off x="1619250" y="5143500"/>
            <a:ext cx="3429000" cy="723900"/>
          </a:xfrm>
          <a:prstGeom prst="roundRect">
            <a:avLst>
              <a:gd name="adj" fmla="val 10526"/>
            </a:avLst>
          </a:prstGeom>
          <a:solidFill>
            <a:srgbClr val="FFF8F4"/>
          </a:solidFill>
          <a:ln w="9525">
            <a:solidFill>
              <a:srgbClr val="F3CAB8"/>
            </a:solidFill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619250" y="5143500"/>
            <a:ext cx="57150" cy="723900"/>
          </a:xfrm>
          <a:prstGeom prst="rect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790700" y="5257800"/>
            <a:ext cx="31623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200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分布证据</a:t>
            </a:r>
            <a:endParaRPr sz="1200" b="1">
              <a:solidFill>
                <a:srgbClr val="F05A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790700" y="5543550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>
              <a:lnSpc>
                <a:spcPct val="108000"/>
              </a:lnSpc>
              <a:buNone/>
            </a:pPr>
            <a:r>
              <a:rPr sz="105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箱线图显示各轨道随时间上移；log 分布显示尾部样本远离主体。</a:t>
            </a:r>
            <a:endParaRPr sz="105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429375" y="5143500"/>
            <a:ext cx="3619500" cy="723900"/>
          </a:xfrm>
          <a:prstGeom prst="roundRect">
            <a:avLst>
              <a:gd name="adj" fmla="val 10526"/>
            </a:avLst>
          </a:prstGeom>
          <a:solidFill>
            <a:srgbClr val="FFF8F4"/>
          </a:solidFill>
          <a:ln w="9525">
            <a:solidFill>
              <a:srgbClr val="F3CAB8"/>
            </a:solidFill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429375" y="5143500"/>
            <a:ext cx="57150" cy="72390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600825" y="5257800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200" b="1">
                <a:solidFill>
                  <a:srgbClr val="08A8D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统计含义</a:t>
            </a:r>
            <a:endParaRPr sz="1200" b="1">
              <a:solidFill>
                <a:srgbClr val="08A8D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600825" y="5543550"/>
            <a:ext cx="3333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>
              <a:lnSpc>
                <a:spcPct val="108000"/>
              </a:lnSpc>
              <a:buNone/>
            </a:pPr>
            <a:r>
              <a:rPr sz="105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后续区间估计和轨道差异检验要采用 Bootstrap 与非参数方法。</a:t>
            </a:r>
            <a:endParaRPr sz="105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144000" y="0"/>
            <a:ext cx="3048000" cy="552450"/>
          </a:xfrm>
          <a:prstGeom prst="rect">
            <a:avLst/>
          </a:prstGeom>
          <a:solidFill>
            <a:srgbClr val="78D5EF"/>
          </a:solidFill>
          <a:ln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381000" y="123825"/>
            <a:ext cx="47625" cy="304800"/>
          </a:xfrm>
          <a:prstGeom prst="rect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14300"/>
            <a:ext cx="809625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结论三：中位数误差近似幂律增长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6362700"/>
            <a:ext cx="12192000" cy="495300"/>
          </a:xfrm>
          <a:prstGeom prst="rect">
            <a:avLst/>
          </a:prstGeom>
          <a:solidFill>
            <a:srgbClr val="78D5EF"/>
          </a:solidFill>
          <a:ln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0" y="6362700"/>
            <a:ext cx="8858250" cy="49530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810250" y="6486525"/>
            <a:ext cx="5715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81000" y="6048375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825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TLE/SGP4 轨道预报误差统计分析</a:t>
            </a:r>
            <a:endParaRPr sz="825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876300"/>
            <a:ext cx="9810750" cy="285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575" b="1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在 1 到 7 天尺度内，用 E(t)=a·t^b 描述中位数误差增长，三类轨道拟合优度均较高。</a:t>
            </a:r>
            <a:endParaRPr sz="1575" b="1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288" y="1314450"/>
            <a:ext cx="6143625" cy="409575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7524750" y="1809750"/>
            <a:ext cx="3619500" cy="457200"/>
          </a:xfrm>
          <a:prstGeom prst="rect">
            <a:avLst/>
          </a:prstGeom>
          <a:solidFill>
            <a:srgbClr val="1D5E8C"/>
          </a:solidFill>
          <a:ln w="7620">
            <a:solidFill>
              <a:srgbClr val="D8E6EF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562850" y="1838325"/>
            <a:ext cx="781050" cy="4000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轨道</a:t>
            </a:r>
            <a:endParaRPr sz="11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420100" y="1838325"/>
            <a:ext cx="1924050" cy="4000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幂律模型</a:t>
            </a:r>
            <a:endParaRPr sz="11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420350" y="1838325"/>
            <a:ext cx="685800" cy="4000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R²</a:t>
            </a:r>
            <a:endParaRPr sz="112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524750" y="2266950"/>
            <a:ext cx="36195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6EF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562850" y="2295525"/>
            <a:ext cx="781050" cy="4000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LEO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420100" y="2295525"/>
            <a:ext cx="1924050" cy="4000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0.092·t^1.536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420350" y="2295525"/>
            <a:ext cx="685800" cy="4000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1.000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524750" y="2724150"/>
            <a:ext cx="3619500" cy="457200"/>
          </a:xfrm>
          <a:prstGeom prst="rect">
            <a:avLst/>
          </a:prstGeom>
          <a:solidFill>
            <a:srgbClr val="F7FBFE"/>
          </a:solidFill>
          <a:ln w="7620">
            <a:solidFill>
              <a:srgbClr val="D8E6EF"/>
            </a:solidFill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562850" y="2752725"/>
            <a:ext cx="781050" cy="4000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MEO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420100" y="2752725"/>
            <a:ext cx="1924050" cy="4000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0.156·t^1.292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420350" y="2752725"/>
            <a:ext cx="685800" cy="4000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0.982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524750" y="3181350"/>
            <a:ext cx="36195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8E6EF"/>
            </a:solidFill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7562850" y="3209925"/>
            <a:ext cx="781050" cy="4000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GEO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420100" y="3209925"/>
            <a:ext cx="1924050" cy="4000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0.592·t^1.471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420350" y="3209925"/>
            <a:ext cx="685800" cy="4000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0.989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7524750" y="3943350"/>
            <a:ext cx="3619500" cy="876300"/>
          </a:xfrm>
          <a:prstGeom prst="roundRect">
            <a:avLst>
              <a:gd name="adj" fmla="val 8696"/>
            </a:avLst>
          </a:prstGeom>
          <a:solidFill>
            <a:srgbClr val="F7FBFE"/>
          </a:solidFill>
          <a:ln w="9525">
            <a:solidFill>
              <a:srgbClr val="D8E6EF"/>
            </a:solidFill>
          </a:ln>
        </p:spPr>
        <p:txBody>
          <a:bodyPr wrap="square" lIns="152400" tIns="133350" rIns="152400" bIns="114300"/>
          <a:lstStyle/>
          <a:p>
            <a:r>
              <a:rPr sz="135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b&gt;1 表明短期误差增长具有超线性特征；GEO 的初始误差水平更高，LEO 的增长指数最大。</a:t>
            </a:r>
            <a:endParaRPr sz="135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144000" y="0"/>
            <a:ext cx="3048000" cy="552450"/>
          </a:xfrm>
          <a:prstGeom prst="rect">
            <a:avLst/>
          </a:prstGeom>
          <a:solidFill>
            <a:srgbClr val="78D5EF"/>
          </a:solidFill>
          <a:ln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381000" y="123825"/>
            <a:ext cx="47625" cy="304800"/>
          </a:xfrm>
          <a:prstGeom prst="rect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14300"/>
            <a:ext cx="809625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结论四：Bootstrap更稳健，GEO差异最显著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6362700"/>
            <a:ext cx="12192000" cy="495300"/>
          </a:xfrm>
          <a:prstGeom prst="rect">
            <a:avLst/>
          </a:prstGeom>
          <a:solidFill>
            <a:srgbClr val="78D5EF"/>
          </a:solidFill>
          <a:ln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0" y="6362700"/>
            <a:ext cx="8858250" cy="49530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810250" y="6486525"/>
            <a:ext cx="5715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81000" y="6048375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825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TLE/SGP4 轨道预报误差统计分析</a:t>
            </a:r>
            <a:endParaRPr sz="825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876300"/>
            <a:ext cx="9810750" cy="285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575" b="1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长尾分布下，区间估计和组间检验都要避免过度依赖正态假设。</a:t>
            </a:r>
            <a:endParaRPr sz="1575" b="1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1562100"/>
            <a:ext cx="4953000" cy="2971800"/>
          </a:xfrm>
          <a:prstGeom prst="rect">
            <a:avLst/>
          </a:prstGeom>
        </p:spPr>
      </p:pic>
      <p:sp>
        <p:nvSpPr>
          <p:cNvPr id="13" name="矩形 12"/>
          <p:cNvSpPr>
            <a:spLocks noGrp="1"/>
          </p:cNvSpPr>
          <p:nvPr/>
        </p:nvSpPr>
        <p:spPr>
          <a:xfrm>
            <a:off x="5962650" y="1390650"/>
            <a:ext cx="4762500" cy="400050"/>
          </a:xfrm>
          <a:prstGeom prst="rect">
            <a:avLst/>
          </a:prstGeom>
          <a:solidFill>
            <a:srgbClr val="1D5E8C"/>
          </a:solidFill>
          <a:ln w="7620">
            <a:solidFill>
              <a:srgbClr val="D8E6EF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000750" y="1419225"/>
            <a:ext cx="5905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93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轨道</a:t>
            </a:r>
            <a:endParaRPr sz="93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667500" y="1419225"/>
            <a:ext cx="12573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3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1天BCa</a:t>
            </a:r>
            <a:endParaRPr sz="93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001000" y="1419225"/>
            <a:ext cx="12573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3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3天BCa</a:t>
            </a:r>
            <a:endParaRPr sz="93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334500" y="1419225"/>
            <a:ext cx="13525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3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7天BCa</a:t>
            </a:r>
            <a:endParaRPr sz="93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962650" y="1790700"/>
            <a:ext cx="476250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8E6EF"/>
            </a:solidFill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000750" y="1819275"/>
            <a:ext cx="5905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93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GEO</a:t>
            </a:r>
            <a:endParaRPr sz="93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667500" y="1819275"/>
            <a:ext cx="12573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3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[0.605,0.658]</a:t>
            </a:r>
            <a:endParaRPr sz="93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001000" y="1819275"/>
            <a:ext cx="12573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3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[2.518,2.717]</a:t>
            </a:r>
            <a:endParaRPr sz="93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334500" y="1819275"/>
            <a:ext cx="13525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3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[10.680,11.914]</a:t>
            </a:r>
            <a:endParaRPr sz="93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962650" y="2190750"/>
            <a:ext cx="4762500" cy="400050"/>
          </a:xfrm>
          <a:prstGeom prst="rect">
            <a:avLst/>
          </a:prstGeom>
          <a:solidFill>
            <a:srgbClr val="F7FBFE"/>
          </a:solidFill>
          <a:ln w="7620">
            <a:solidFill>
              <a:srgbClr val="D8E6EF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000750" y="2219325"/>
            <a:ext cx="5905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93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LEO</a:t>
            </a:r>
            <a:endParaRPr sz="93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667500" y="2219325"/>
            <a:ext cx="12573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3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[0.089,0.094]</a:t>
            </a:r>
            <a:endParaRPr sz="93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001000" y="2219325"/>
            <a:ext cx="12573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3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[0.483,0.508]</a:t>
            </a:r>
            <a:endParaRPr sz="93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334500" y="2219325"/>
            <a:ext cx="13525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3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[1.773,1.886]</a:t>
            </a:r>
            <a:endParaRPr sz="93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962650" y="2590800"/>
            <a:ext cx="476250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8E6EF"/>
            </a:solidFill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000750" y="2619375"/>
            <a:ext cx="5905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93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MEO</a:t>
            </a:r>
            <a:endParaRPr sz="93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667500" y="2619375"/>
            <a:ext cx="12573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3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[0.160,0.173]</a:t>
            </a:r>
            <a:endParaRPr sz="93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001000" y="2619375"/>
            <a:ext cx="12573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3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[0.538,0.570]</a:t>
            </a:r>
            <a:endParaRPr sz="93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334500" y="2619375"/>
            <a:ext cx="13525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93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3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[2.040,2.170]</a:t>
            </a:r>
            <a:endParaRPr sz="93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5962650" y="3238500"/>
            <a:ext cx="4381500" cy="400050"/>
          </a:xfrm>
          <a:prstGeom prst="rect">
            <a:avLst/>
          </a:prstGeom>
          <a:solidFill>
            <a:srgbClr val="1D5E8C"/>
          </a:solidFill>
          <a:ln w="7620">
            <a:solidFill>
              <a:srgbClr val="D8E6EF"/>
            </a:solidFill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6000750" y="3267075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101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天数</a:t>
            </a:r>
            <a:endParaRPr sz="101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762750" y="3267075"/>
            <a:ext cx="19240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01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Kruskal-Wallis p值</a:t>
            </a:r>
            <a:endParaRPr sz="101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763000" y="3267075"/>
            <a:ext cx="15430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01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Levene p值</a:t>
            </a:r>
            <a:endParaRPr sz="1015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962650" y="3638550"/>
            <a:ext cx="438150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8E6EF"/>
            </a:solidFill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6000750" y="3667125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101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endParaRPr sz="101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762750" y="3667125"/>
            <a:ext cx="19240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01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&lt;1e-300</a:t>
            </a:r>
            <a:endParaRPr sz="101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763000" y="3667125"/>
            <a:ext cx="15430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01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4.13e-99</a:t>
            </a:r>
            <a:endParaRPr sz="101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962650" y="4038600"/>
            <a:ext cx="4381500" cy="400050"/>
          </a:xfrm>
          <a:prstGeom prst="rect">
            <a:avLst/>
          </a:prstGeom>
          <a:solidFill>
            <a:srgbClr val="F7FBFE"/>
          </a:solidFill>
          <a:ln w="7620">
            <a:solidFill>
              <a:srgbClr val="D8E6EF"/>
            </a:solidFill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6000750" y="4067175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101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sz="101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762750" y="4067175"/>
            <a:ext cx="19240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01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&lt;1e-300</a:t>
            </a:r>
            <a:endParaRPr sz="101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763000" y="4067175"/>
            <a:ext cx="15430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01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1.78e-44</a:t>
            </a:r>
            <a:endParaRPr sz="101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5962650" y="4438650"/>
            <a:ext cx="4381500" cy="400050"/>
          </a:xfrm>
          <a:prstGeom prst="rect">
            <a:avLst/>
          </a:prstGeom>
          <a:solidFill>
            <a:srgbClr val="FFFFFF"/>
          </a:solidFill>
          <a:ln w="7620">
            <a:solidFill>
              <a:srgbClr val="D8E6EF"/>
            </a:solidFill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6000750" y="4467225"/>
            <a:ext cx="6858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l">
              <a:defRPr sz="101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</a:t>
            </a:r>
            <a:endParaRPr sz="101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7" name="矩形 46"/>
          <p:cNvSpPr>
            <a:spLocks noGrp="1"/>
          </p:cNvSpPr>
          <p:nvPr/>
        </p:nvSpPr>
        <p:spPr>
          <a:xfrm>
            <a:off x="6762750" y="4467225"/>
            <a:ext cx="19240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01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&lt;1e-300</a:t>
            </a:r>
            <a:endParaRPr sz="101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8763000" y="4467225"/>
            <a:ext cx="15430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01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1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2.64e-33</a:t>
            </a:r>
            <a:endParaRPr sz="101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990600" y="4953000"/>
            <a:ext cx="4095750" cy="781050"/>
          </a:xfrm>
          <a:prstGeom prst="roundRect">
            <a:avLst>
              <a:gd name="adj" fmla="val 9756"/>
            </a:avLst>
          </a:prstGeom>
          <a:solidFill>
            <a:srgbClr val="FFF8F4"/>
          </a:solidFill>
          <a:ln w="9525">
            <a:solidFill>
              <a:srgbClr val="F3CAB8"/>
            </a:solidFill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990600" y="4953000"/>
            <a:ext cx="57150" cy="78105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1162050" y="5067300"/>
            <a:ext cx="38290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200" b="1">
                <a:solidFill>
                  <a:srgbClr val="08A8D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Bootstrap结论</a:t>
            </a:r>
            <a:endParaRPr sz="1200" b="1">
              <a:solidFill>
                <a:srgbClr val="08A8D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1162050" y="535305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>
              <a:lnSpc>
                <a:spcPct val="108000"/>
              </a:lnSpc>
              <a:buNone/>
            </a:pPr>
            <a:r>
              <a:rPr sz="105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BCa 区间能反映偏态和偏差修正；中位数区间相对稳定，适合描述典型精度。</a:t>
            </a:r>
            <a:endParaRPr sz="105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6229350" y="4953000"/>
            <a:ext cx="4095750" cy="781050"/>
          </a:xfrm>
          <a:prstGeom prst="roundRect">
            <a:avLst>
              <a:gd name="adj" fmla="val 9756"/>
            </a:avLst>
          </a:prstGeom>
          <a:solidFill>
            <a:srgbClr val="FFF8F4"/>
          </a:solidFill>
          <a:ln w="9525">
            <a:solidFill>
              <a:srgbClr val="F3CAB8"/>
            </a:solidFill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6229350" y="4953000"/>
            <a:ext cx="57150" cy="781050"/>
          </a:xfrm>
          <a:prstGeom prst="rect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6400800" y="5067300"/>
            <a:ext cx="38290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200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轨道差异结论</a:t>
            </a:r>
            <a:endParaRPr sz="1200" b="1">
              <a:solidFill>
                <a:srgbClr val="F05A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6400800" y="535305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>
              <a:lnSpc>
                <a:spcPct val="108000"/>
              </a:lnSpc>
              <a:buNone/>
            </a:pPr>
            <a:r>
              <a:rPr sz="105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GEO 在 1/3/7 天均显著高于 LEO、MEO；LEO 与 MEO 在 3天和7天差异不显著。</a:t>
            </a:r>
            <a:endParaRPr sz="105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144000" y="0"/>
            <a:ext cx="3048000" cy="552450"/>
          </a:xfrm>
          <a:prstGeom prst="rect">
            <a:avLst/>
          </a:prstGeom>
          <a:solidFill>
            <a:srgbClr val="78D5EF"/>
          </a:solidFill>
          <a:ln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381000" y="123825"/>
            <a:ext cx="47625" cy="304800"/>
          </a:xfrm>
          <a:prstGeom prst="rect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533400" y="114300"/>
            <a:ext cx="809625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讨论：协方差传播与结论边界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0" y="6362700"/>
            <a:ext cx="12192000" cy="495300"/>
          </a:xfrm>
          <a:prstGeom prst="rect">
            <a:avLst/>
          </a:prstGeom>
          <a:solidFill>
            <a:srgbClr val="78D5EF"/>
          </a:solidFill>
          <a:ln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0" y="6362700"/>
            <a:ext cx="8858250" cy="49530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5810250" y="6486525"/>
            <a:ext cx="57150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 anchor="t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81000" y="6048375"/>
            <a:ext cx="4000500" cy="1905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825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TLE/SGP4 轨道预报误差统计分析</a:t>
            </a:r>
            <a:endParaRPr sz="825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04850" y="876300"/>
            <a:ext cx="9810750" cy="285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575" b="1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标量误差回答“多大”，协方差回答“向哪个方向不确定”；局限性决定结论应如何表述。</a:t>
            </a:r>
            <a:endParaRPr sz="1575" b="1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1428750"/>
            <a:ext cx="4191000" cy="952500"/>
          </a:xfrm>
          <a:prstGeom prst="roundRect">
            <a:avLst>
              <a:gd name="adj" fmla="val 8000"/>
            </a:avLst>
          </a:prstGeom>
          <a:solidFill>
            <a:srgbClr val="FAFDFF"/>
          </a:solidFill>
          <a:ln w="9525">
            <a:solidFill>
              <a:srgbClr val="D8E6EF"/>
            </a:solidFill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219200" y="1695450"/>
            <a:ext cx="352425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2325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325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Σ(Δt) = ΦΣ₀Φᵀ + Q</a:t>
            </a:r>
            <a:endParaRPr sz="2325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43000" y="2152650"/>
            <a:ext cx="3619500" cy="1905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1125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误差向量 e(t) 可估计 TEME / RIC 经验协方差</a:t>
            </a:r>
            <a:endParaRPr sz="1125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1066800" y="3219450"/>
            <a:ext cx="1619250" cy="819150"/>
          </a:xfrm>
          <a:prstGeom prst="roundRect">
            <a:avLst>
              <a:gd name="adj" fmla="val 9302"/>
            </a:avLst>
          </a:prstGeom>
          <a:solidFill>
            <a:srgbClr val="F4F8FB"/>
          </a:solidFill>
          <a:ln w="9525">
            <a:solidFill>
              <a:srgbClr val="D8E6EF"/>
            </a:solidFill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295400" y="3429000"/>
            <a:ext cx="11620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1350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误差向量</a:t>
            </a:r>
            <a:endParaRPr sz="1350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314450" y="3733800"/>
            <a:ext cx="1123950" cy="1905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[R, I, C]</a:t>
            </a:r>
            <a:endParaRPr sz="112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876550" y="3619500"/>
            <a:ext cx="933450" cy="3810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19" name="等腰三角形 18"/>
          <p:cNvSpPr>
            <a:spLocks noGrp="1"/>
          </p:cNvSpPr>
          <p:nvPr/>
        </p:nvSpPr>
        <p:spPr>
          <a:xfrm>
            <a:off x="3771900" y="3562350"/>
            <a:ext cx="152400" cy="152400"/>
          </a:xfrm>
          <a:prstGeom prst="triangle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20" name="圆角矩形 19"/>
          <p:cNvSpPr>
            <a:spLocks noGrp="1"/>
          </p:cNvSpPr>
          <p:nvPr/>
        </p:nvSpPr>
        <p:spPr>
          <a:xfrm>
            <a:off x="4095750" y="3143250"/>
            <a:ext cx="2000250" cy="971550"/>
          </a:xfrm>
          <a:prstGeom prst="roundRect">
            <a:avLst>
              <a:gd name="adj" fmla="val 7843"/>
            </a:avLst>
          </a:prstGeom>
          <a:solidFill>
            <a:srgbClr val="FFF8F4"/>
          </a:solidFill>
          <a:ln w="9525">
            <a:solidFill>
              <a:srgbClr val="F3CAB8"/>
            </a:solidFill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362450" y="3390900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1350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经验协方差</a:t>
            </a:r>
            <a:endParaRPr sz="1350" b="1">
              <a:solidFill>
                <a:srgbClr val="F05A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343400" y="3714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105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按轨道类型 × 天数估计</a:t>
            </a:r>
            <a:endParaRPr sz="1050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4095750" y="4305300"/>
            <a:ext cx="2000250" cy="438150"/>
          </a:xfrm>
          <a:prstGeom prst="roundRect">
            <a:avLst>
              <a:gd name="adj" fmla="val 17391"/>
            </a:avLst>
          </a:prstGeom>
          <a:solidFill>
            <a:srgbClr val="F4F8FB"/>
          </a:solidFill>
          <a:ln w="9525">
            <a:solidFill>
              <a:srgbClr val="D8E6EF"/>
            </a:solidFill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267200" y="4400550"/>
            <a:ext cx="1657350" cy="2095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1200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过程噪声 Q：随时间膨胀</a:t>
            </a:r>
            <a:endParaRPr sz="1200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6667500" y="1466850"/>
            <a:ext cx="4000500" cy="609600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9525">
            <a:solidFill>
              <a:srgbClr val="D8E6EF"/>
            </a:solidFill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896100" y="16383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350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参考口径</a:t>
            </a:r>
            <a:endParaRPr sz="1350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058150" y="1600200"/>
            <a:ext cx="2238375" cy="304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>
              <a:lnSpc>
                <a:spcPct val="105000"/>
              </a:lnSpc>
              <a:buNone/>
            </a:pPr>
            <a:r>
              <a:rPr sz="116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新 TLE 仍是平均根数，不是精密定轨真值。</a:t>
            </a:r>
            <a:endParaRPr sz="116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6667500" y="2305050"/>
            <a:ext cx="4000500" cy="609600"/>
          </a:xfrm>
          <a:prstGeom prst="roundRect">
            <a:avLst>
              <a:gd name="adj" fmla="val 12500"/>
            </a:avLst>
          </a:prstGeom>
          <a:solidFill>
            <a:srgbClr val="FFF8F4"/>
          </a:solidFill>
          <a:ln w="9525">
            <a:solidFill>
              <a:srgbClr val="F3CAB8"/>
            </a:solidFill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6896100" y="24765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350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样本相关</a:t>
            </a:r>
            <a:endParaRPr sz="1350" b="1">
              <a:solidFill>
                <a:srgbClr val="F05A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058150" y="2438400"/>
            <a:ext cx="2238375" cy="304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>
              <a:lnSpc>
                <a:spcPct val="105000"/>
              </a:lnSpc>
              <a:buNone/>
            </a:pPr>
            <a:r>
              <a:rPr sz="116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同一目标的多历元误差可能存在时间相关。</a:t>
            </a:r>
            <a:endParaRPr sz="116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6667500" y="3143250"/>
            <a:ext cx="4000500" cy="609600"/>
          </a:xfrm>
          <a:prstGeom prst="roundRect">
            <a:avLst>
              <a:gd name="adj" fmla="val 12500"/>
            </a:avLst>
          </a:prstGeom>
          <a:solidFill>
            <a:srgbClr val="F7FBFE"/>
          </a:solidFill>
          <a:ln w="9525">
            <a:solidFill>
              <a:srgbClr val="D8E6EF"/>
            </a:solidFill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6896100" y="3314700"/>
            <a:ext cx="10477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350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外部扰动</a:t>
            </a:r>
            <a:endParaRPr sz="1350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058150" y="3276600"/>
            <a:ext cx="2238375" cy="304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>
              <a:lnSpc>
                <a:spcPct val="105000"/>
              </a:lnSpc>
              <a:buNone/>
            </a:pPr>
            <a:r>
              <a:rPr sz="1165" b="0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空间天气、阻力和机动未在统计模型中显式解释。</a:t>
            </a:r>
            <a:endParaRPr sz="1165" b="0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1200150" y="4876800"/>
            <a:ext cx="8953500" cy="552450"/>
          </a:xfrm>
          <a:prstGeom prst="roundRect">
            <a:avLst>
              <a:gd name="adj" fmla="val 13793"/>
            </a:avLst>
          </a:prstGeom>
          <a:solidFill>
            <a:srgbClr val="FAFDFF"/>
          </a:solidFill>
          <a:ln w="9525">
            <a:solidFill>
              <a:srgbClr val="D8E6EF"/>
            </a:solidFill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466850" y="5029200"/>
            <a:ext cx="1190625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425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结论边界</a:t>
            </a:r>
            <a:endParaRPr sz="1425" b="1">
              <a:solidFill>
                <a:srgbClr val="F05A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781300" y="5010150"/>
            <a:ext cx="64770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350" b="1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本文结论应理解为公开 TLE 数据体系下的相对预报误差统计，而非替代精密定轨评估。</a:t>
            </a:r>
            <a:endParaRPr sz="1350" b="1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0" y="5753100"/>
            <a:ext cx="12192000" cy="1104900"/>
          </a:xfrm>
          <a:prstGeom prst="rect">
            <a:avLst/>
          </a:prstGeom>
          <a:solidFill>
            <a:srgbClr val="78D5EF"/>
          </a:solidFill>
          <a:ln>
            <a:noFill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0" y="5753100"/>
            <a:ext cx="7905750" cy="110490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0" y="5753100"/>
            <a:ext cx="1524000" cy="1104900"/>
          </a:xfrm>
          <a:prstGeom prst="rect">
            <a:avLst/>
          </a:prstGeom>
          <a:solidFill>
            <a:srgbClr val="78D5EF"/>
          </a:solidFill>
          <a:ln>
            <a:noFill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81050" y="838200"/>
            <a:ext cx="5334000" cy="4953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3000" b="1">
                <a:solidFill>
                  <a:srgbClr val="1D5E8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研究结论与应用价值</a:t>
            </a:r>
            <a:endParaRPr sz="3000" b="1">
              <a:solidFill>
                <a:srgbClr val="1D5E8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1504950"/>
            <a:ext cx="800100" cy="47625"/>
          </a:xfrm>
          <a:prstGeom prst="rect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1752600"/>
            <a:ext cx="7810500" cy="2667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500" b="1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公开 TLE 误差评估可以概括为误差定义、统计结论和方法价值三个层面。</a:t>
            </a:r>
            <a:endParaRPr sz="1500" b="1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876300" y="2381250"/>
            <a:ext cx="3238500" cy="1162050"/>
          </a:xfrm>
          <a:prstGeom prst="roundRect">
            <a:avLst>
              <a:gd name="adj" fmla="val 6557"/>
            </a:avLst>
          </a:prstGeom>
          <a:solidFill>
            <a:srgbClr val="F4F8FB"/>
          </a:solidFill>
          <a:ln w="9525">
            <a:solidFill>
              <a:srgbClr val="D8E6EF"/>
            </a:solidFill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76300" y="2381250"/>
            <a:ext cx="57150" cy="1162050"/>
          </a:xfrm>
          <a:prstGeom prst="rect">
            <a:avLst/>
          </a:prstGeom>
          <a:solidFill>
            <a:srgbClr val="08A8DC"/>
          </a:solidFill>
          <a:ln>
            <a:noFill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047750" y="2495550"/>
            <a:ext cx="297180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875" b="1">
                <a:solidFill>
                  <a:srgbClr val="08A8D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误差定义</a:t>
            </a:r>
            <a:endParaRPr sz="1875" b="1">
              <a:solidFill>
                <a:srgbClr val="08A8D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47750" y="2857500"/>
            <a:ext cx="29718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050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旧 TLE + SGP4 给出预报位置，未来 TLE 提供公开体系内的近似参考。</a:t>
            </a:r>
            <a:endParaRPr sz="1050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476750" y="2381250"/>
            <a:ext cx="3238500" cy="1162050"/>
          </a:xfrm>
          <a:prstGeom prst="roundRect">
            <a:avLst>
              <a:gd name="adj" fmla="val 6557"/>
            </a:avLst>
          </a:prstGeom>
          <a:solidFill>
            <a:srgbClr val="F4F8FB"/>
          </a:solidFill>
          <a:ln w="9525">
            <a:solidFill>
              <a:srgbClr val="D8E6EF"/>
            </a:solidFill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476750" y="2381250"/>
            <a:ext cx="57150" cy="1162050"/>
          </a:xfrm>
          <a:prstGeom prst="rect">
            <a:avLst/>
          </a:prstGeom>
          <a:solidFill>
            <a:srgbClr val="F05A28"/>
          </a:solidFill>
          <a:ln>
            <a:noFill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4648200" y="2495550"/>
            <a:ext cx="297180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875" b="1">
                <a:solidFill>
                  <a:srgbClr val="F05A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统计结论</a:t>
            </a:r>
            <a:endParaRPr sz="1875" b="1">
              <a:solidFill>
                <a:srgbClr val="F05A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48200" y="2857500"/>
            <a:ext cx="29718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050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误差随 1/3/7 天增长，GEO 典型误差最高；分布长尾使 RMSE 明显放大。</a:t>
            </a:r>
            <a:endParaRPr sz="1050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077200" y="2381250"/>
            <a:ext cx="3238500" cy="1162050"/>
          </a:xfrm>
          <a:prstGeom prst="roundRect">
            <a:avLst>
              <a:gd name="adj" fmla="val 6557"/>
            </a:avLst>
          </a:prstGeom>
          <a:solidFill>
            <a:srgbClr val="F4F8FB"/>
          </a:solidFill>
          <a:ln w="9525">
            <a:solidFill>
              <a:srgbClr val="D8E6EF"/>
            </a:solidFill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077200" y="2381250"/>
            <a:ext cx="57150" cy="1162050"/>
          </a:xfrm>
          <a:prstGeom prst="rect">
            <a:avLst/>
          </a:prstGeom>
          <a:solidFill>
            <a:srgbClr val="2B9C6A"/>
          </a:solidFill>
          <a:ln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248650" y="2495550"/>
            <a:ext cx="2971800" cy="32385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875" b="1">
                <a:solidFill>
                  <a:srgbClr val="2B9C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方法价值</a:t>
            </a:r>
            <a:endParaRPr sz="1875" b="1">
              <a:solidFill>
                <a:srgbClr val="2B9C6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248650" y="2857500"/>
            <a:ext cx="2971800" cy="3429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r>
              <a:rPr sz="1050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Bootstrap/BCa 与非参数检验使结论不依赖单一平均值或正态假设。</a:t>
            </a:r>
            <a:endParaRPr sz="1050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19150" y="4114800"/>
            <a:ext cx="10477500" cy="3048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1425" b="1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22283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项目交付：数据下载脚本、SGP4误差计算、Bootstrap/BCa、协方差表、轨道类型检验、图表与报告模板。</a:t>
            </a:r>
            <a:endParaRPr sz="1425" b="1">
              <a:solidFill>
                <a:srgbClr val="22283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991100" y="4895850"/>
            <a:ext cx="2190750" cy="4191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2850" b="1">
                <a:solidFill>
                  <a:srgbClr val="08A8D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08A8D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谢谢聆听</a:t>
            </a:r>
            <a:endParaRPr sz="2850" b="1">
              <a:solidFill>
                <a:srgbClr val="08A8D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657850" y="53911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lIns="38100" tIns="38100" rIns="38100" bIns="38100"/>
          <a:lstStyle/>
          <a:p>
            <a:pPr algn="ctr">
              <a:defRPr sz="1350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60708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Q &amp; A</a:t>
            </a:r>
            <a:endParaRPr sz="1350" b="0">
              <a:solidFill>
                <a:srgbClr val="60708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3973</Words>
  <Application>WPS 演示</Application>
  <PresentationFormat>Converted Presentation</PresentationFormat>
  <Paragraphs>585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PingFang SC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周啸天</cp:lastModifiedBy>
  <cp:revision>1</cp:revision>
  <dcterms:created xsi:type="dcterms:W3CDTF">2026-06-14T12:41:15Z</dcterms:created>
  <dcterms:modified xsi:type="dcterms:W3CDTF">2026-06-14T12:41:15Z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7CFB54A9565CC0DC6BA12E6A2511C0FD_42</vt:lpwstr>
  </property>
  <property fmtid="{D5CDD505-2E9C-101B-9397-08002B2CF9AE}" pid="3" name="KSOProductBuildVer">
    <vt:lpwstr>2052-5.3.0.7863</vt:lpwstr>
  </property>
</Properties>
</file>